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this deck in Zoho Show. Keep CRM in a second window.</a:t>
            </a:r>
          </a:p>
          <a:p>
            <a:r>
              <a:t>Say: This is one CRM for the group. We will walk four brands, from first enquiry to founder accept.</a:t>
            </a:r>
          </a:p>
          <a:p>
            <a:r>
              <a:t>Then: I will cue each scene here, then we click the live record.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We stay in this order. I show a cue slide, then we click CRM. Use Ekya Lead Stage, not Admission Stage. We will not edit the showcase records.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once. Then hide Setup until Scene 7. CRM tabs already open: Leads, Accounts, Deals, Workflows.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is one CRM for the group. Ekya Schools, Nava, CMR NPS, and CMR PU College are brands. Campuses sit under the brand. Early Years and future campuses can be added here without a new module.</a:t>
            </a:r>
          </a:p>
          <a:p/>
          <a:p>
            <a:r>
              <a:t>K-12 and PU are not the same admissions process. Every enquiry carries Brand, Campus, Grade, and App Type so the journey, the owner, and the dashboard can split.</a:t>
            </a:r>
          </a:p>
          <a:p/>
          <a:p>
            <a:r>
              <a:t>DO NOT open finance / Books.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brand accounts and a couple of campuses. Mention Maya and Indravadhan as campus owners. Do not invent Books legal-entity names.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for 10 seconds while Accounts is still open. This is their document, not a mock.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Everything we open next is a parent on this path. Keep your eye on Ekya Lead Stage.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Anita used one mobile number for two campuses. We did not treat that as a duplicate. JP Nagar is still an enquiry for Aarav. BTM has already started Diya’s application. Each campus nurtures its own record.</a:t>
            </a:r>
          </a:p>
          <a:p/>
          <a:p>
            <a:r>
              <a:t>If asked whether they can apply twice from the same number: Yes. That was an explicit requirement.</a:t>
            </a:r>
          </a:p>
          <a:p/>
          <a:p>
            <a:r>
              <a:t>POINT AT: Brand, Campus, Grade, Student Name, How Heard, OTP Verified, Ekya Lead Stage, Phone.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Sibling and intercampus are flags on the lead, not a second product. Counsellors see why a second file exists instead of merging the family by accident.</a:t>
            </a:r>
          </a:p>
          <a:p/>
          <a:p>
            <a:r>
              <a:t>Meera is moving a child from JP Nagar to Nava Panathur. The previous school is on the record.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Stay tight: one sentence per record, land on Nair.</a:t>
            </a:r>
          </a:p>
          <a:p/>
          <a:p>
            <a:r>
              <a:t>PHONE: Four published hotlines. After VOIP, IVR maps campus. Activity belongs on this lead.</a:t>
            </a:r>
          </a:p>
          <a:p/>
          <a:p>
            <a:r>
              <a:t>DATABASE: Last year’s list can live in CRM for nurture. It should not fire this year’s incoming-lead workflow until the parent acts.</a:t>
            </a:r>
          </a:p>
          <a:p/>
          <a:p>
            <a:r>
              <a:t>NAIR: She started the form from a paid campaign and did not submit. 24-hour task. Honest limit: Zoho Forms does not natively push abandoned as a CRM stage.</a:t>
            </a:r>
          </a:p>
          <a:p/>
          <a:p>
            <a:r>
              <a:t>Open the 24h incomplete application reminder task on Nair.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enquiry fields and the four hotlines. Then go back to Nair in CRM.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BOOKED: Parent gets a link, sees about two weeks of availability, picks a 30-minute slot. Confirmation to admissions and the parent. Day before, workflow marks Reminder Sent. Thirty minutes before, reminder with reschedule. Bookings can sit on top later.</a:t>
            </a:r>
          </a:p>
          <a:p/>
          <a:p>
            <a:r>
              <a:t>SAY MISSED: If they miss without rescheduling, stage moves to Visit Missed and nurture starts. You do not rely on someone dragging a Kanban card.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booking and reminder sequence they asked for. Menon and Das are the live proof.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this as one file moving forward. Do not linger.</a:t>
            </a:r>
          </a:p>
          <a:p/>
          <a:p>
            <a:r>
              <a:t>KHAN: Application is in. Visit happened. Optional: open deal K-12 Application - Zara Khan.</a:t>
            </a:r>
          </a:p>
          <a:p>
            <a:r>
              <a:t>RAO: Head of School writes on the same record. Founder sees the comment. No side email thread.</a:t>
            </a:r>
          </a:p>
          <a:p>
            <a:r>
              <a:t>PATEL: Accept and Waitlist are first-class outcomes. Capacity is a founder decision, not a lost lead.</a:t>
            </a:r>
          </a:p>
          <a:p>
            <a:r>
              <a:t>MEHTA: When the founder sets Accept, a workflow moves Ekya Lead Stage to Accepted.</a:t>
            </a:r>
          </a:p>
          <a:p/>
          <a:p>
            <a:r>
              <a:t>DO NOT change Founder Decision on Rao or Patel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CRM, different journey. PU and K-12 dashboards can be two views on App Type. You do not run PUC 1 through the Grade 1 school pipeline.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These six rules are the spine. Email, WhatsApp, Bookings, and telephony plug into the same fields. We did not overwrite the existing EdNova process in this org.</a:t>
            </a:r>
          </a:p>
          <a:p/>
          <a:p>
            <a:r>
              <a:t>DO NOT open or edit EdNova follow -up update.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You asked for one place that knows the brand, the campus, the grade, the channel, the visit, and the founder decision. That is what you just clicked through.</a:t>
            </a:r>
          </a:p>
          <a:p/>
          <a:p>
            <a:r>
              <a:t>To go live: Forms with OTP, parent portal, Bookings or Google Calendar, Campaigns and WhatsApp by grade, marketplace telephony, payment with campus-specific bank details. One Books org can sit under Zoho One; other legal entities need their own Books. We did not invent entity names because those packs were empty.</a:t>
            </a:r>
          </a:p>
          <a:p/>
          <a:p>
            <a:r>
              <a:t>Questions I can answer from this org: two applications on one phone, sibling vs intercampus, K-12 vs PU, missed-visit nurture, HOS to founder.</a:t>
            </a:r>
          </a:p>
          <a:p/>
          <a:p>
            <a:r>
              <a:t>STOP.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Go-live items live here: portal, telephony, HOS/founder. Do not claim they are live in this org.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up. Do not improvise edits on showcase leads.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slide in presenter view or printed. Not for the customer unless they ask.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time is short: drop sibling/intercampus and PU. In Scene 3 show only Nair.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if they ask about reports. Do not walk every bullet.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263640"/>
            <a:ext cx="12191695" cy="594360"/>
          </a:xfrm>
          <a:prstGeom prst="rect">
            <a:avLst/>
          </a:prstGeom>
          <a:solidFill>
            <a:srgbClr val="1432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554480"/>
            <a:ext cx="10789920" cy="365760"/>
          </a:xfrm>
          <a:prstGeom prst="rect">
            <a:avLst/>
          </a:prstGeom>
          <a:noFill/>
        </p:spPr>
        <p:txBody>
          <a:bodyPr wrap="none">
            <a:spAutoFit/>
          </a:bodyPr>
          <a:lstStyle/>
          <a:p>
            <a:r>
              <a:rPr sz="1400" b="1" i="0">
                <a:solidFill>
                  <a:srgbClr val="C48A2B"/>
                </a:solidFill>
                <a:latin typeface="Calibri"/>
                <a:ea typeface="Calibri"/>
              </a:rPr>
              <a:t>ZOHO CRM  ·  ADMISSIONS EVALUATION</a:t>
            </a:r>
          </a:p>
        </p:txBody>
      </p:sp>
      <p:sp>
        <p:nvSpPr>
          <p:cNvPr id="6" name="TextBox 5"/>
          <p:cNvSpPr txBox="1"/>
          <p:nvPr/>
        </p:nvSpPr>
        <p:spPr>
          <a:xfrm>
            <a:off x="640080" y="2011680"/>
            <a:ext cx="10789920" cy="1463040"/>
          </a:xfrm>
          <a:prstGeom prst="rect">
            <a:avLst/>
          </a:prstGeom>
          <a:noFill/>
        </p:spPr>
        <p:txBody>
          <a:bodyPr wrap="square">
            <a:spAutoFit/>
          </a:bodyPr>
          <a:lstStyle/>
          <a:p>
            <a:r>
              <a:rPr sz="3600" b="1" i="0">
                <a:solidFill>
                  <a:srgbClr val="FFFFFF"/>
                </a:solidFill>
                <a:latin typeface="Calibri"/>
                <a:ea typeface="Calibri"/>
              </a:rPr>
              <a:t>Connected admissions across
four brands and every campus</a:t>
            </a:r>
          </a:p>
        </p:txBody>
      </p:sp>
      <p:sp>
        <p:nvSpPr>
          <p:cNvPr id="7" name="TextBox 6"/>
          <p:cNvSpPr txBox="1"/>
          <p:nvPr/>
        </p:nvSpPr>
        <p:spPr>
          <a:xfrm>
            <a:off x="640080" y="3794760"/>
            <a:ext cx="10789920" cy="822960"/>
          </a:xfrm>
          <a:prstGeom prst="rect">
            <a:avLst/>
          </a:prstGeom>
          <a:noFill/>
        </p:spPr>
        <p:txBody>
          <a:bodyPr wrap="square">
            <a:spAutoFit/>
          </a:bodyPr>
          <a:lstStyle/>
          <a:p>
            <a:r>
              <a:rPr sz="1800" b="0" i="0">
                <a:solidFill>
                  <a:srgbClr val="D5DEEA"/>
                </a:solidFill>
                <a:latin typeface="Calibri"/>
                <a:ea typeface="Calibri"/>
              </a:rPr>
              <a:t>Ekya Schools  ·  Ekya Nava  ·  CMR NPS  ·  CMR NPUC</a:t>
            </a:r>
          </a:p>
        </p:txBody>
      </p:sp>
      <p:sp>
        <p:nvSpPr>
          <p:cNvPr id="8" name="TextBox 7"/>
          <p:cNvSpPr txBox="1"/>
          <p:nvPr/>
        </p:nvSpPr>
        <p:spPr>
          <a:xfrm>
            <a:off x="640080" y="6382512"/>
            <a:ext cx="10789920" cy="320040"/>
          </a:xfrm>
          <a:prstGeom prst="rect">
            <a:avLst/>
          </a:prstGeom>
          <a:noFill/>
        </p:spPr>
        <p:txBody>
          <a:bodyPr wrap="none">
            <a:spAutoFit/>
          </a:bodyPr>
          <a:lstStyle/>
          <a:p>
            <a:r>
              <a:rPr sz="1300" b="0" i="0">
                <a:solidFill>
                  <a:srgbClr val="B8C4D4"/>
                </a:solidFill>
                <a:latin typeface="Calibri"/>
                <a:ea typeface="Calibri"/>
              </a:rPr>
              <a:t>Demo presentation  ·  20 minutes  ·  Follow with live CRM  ·  Cooper and Co org60040760589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PRESENTING ORDER</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Nine scenes. Same order as the live CRM demo.</a:t>
            </a:r>
          </a:p>
        </p:txBody>
      </p:sp>
      <p:sp>
        <p:nvSpPr>
          <p:cNvPr id="6" name="Rectangle 5"/>
          <p:cNvSpPr/>
          <p:nvPr/>
        </p:nvSpPr>
        <p:spPr>
          <a:xfrm>
            <a:off x="502920" y="1325880"/>
            <a:ext cx="11155680" cy="34747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1097280" cy="274320"/>
          </a:xfrm>
          <a:prstGeom prst="rect">
            <a:avLst/>
          </a:prstGeom>
          <a:noFill/>
        </p:spPr>
        <p:txBody>
          <a:bodyPr wrap="none">
            <a:spAutoFit/>
          </a:bodyPr>
          <a:lstStyle/>
          <a:p>
            <a:r>
              <a:rPr sz="1200" b="1" i="0">
                <a:solidFill>
                  <a:srgbClr val="FFFFFF"/>
                </a:solidFill>
                <a:latin typeface="Calibri"/>
                <a:ea typeface="Calibri"/>
              </a:rPr>
              <a:t>Time</a:t>
            </a:r>
          </a:p>
        </p:txBody>
      </p:sp>
      <p:sp>
        <p:nvSpPr>
          <p:cNvPr id="8" name="TextBox 7"/>
          <p:cNvSpPr txBox="1"/>
          <p:nvPr/>
        </p:nvSpPr>
        <p:spPr>
          <a:xfrm>
            <a:off x="1737360" y="1371600"/>
            <a:ext cx="822960" cy="274320"/>
          </a:xfrm>
          <a:prstGeom prst="rect">
            <a:avLst/>
          </a:prstGeom>
          <a:noFill/>
        </p:spPr>
        <p:txBody>
          <a:bodyPr wrap="none">
            <a:spAutoFit/>
          </a:bodyPr>
          <a:lstStyle/>
          <a:p>
            <a:r>
              <a:rPr sz="1200" b="1" i="0">
                <a:solidFill>
                  <a:srgbClr val="FFFFFF"/>
                </a:solidFill>
                <a:latin typeface="Calibri"/>
                <a:ea typeface="Calibri"/>
              </a:rPr>
              <a:t>Scene</a:t>
            </a:r>
          </a:p>
        </p:txBody>
      </p:sp>
      <p:sp>
        <p:nvSpPr>
          <p:cNvPr id="9" name="TextBox 8"/>
          <p:cNvSpPr txBox="1"/>
          <p:nvPr/>
        </p:nvSpPr>
        <p:spPr>
          <a:xfrm>
            <a:off x="2560320" y="1371600"/>
            <a:ext cx="4206240" cy="274320"/>
          </a:xfrm>
          <a:prstGeom prst="rect">
            <a:avLst/>
          </a:prstGeom>
          <a:noFill/>
        </p:spPr>
        <p:txBody>
          <a:bodyPr wrap="none">
            <a:spAutoFit/>
          </a:bodyPr>
          <a:lstStyle/>
          <a:p>
            <a:r>
              <a:rPr sz="1200" b="1" i="0">
                <a:solidFill>
                  <a:srgbClr val="FFFFFF"/>
                </a:solidFill>
                <a:latin typeface="Calibri"/>
                <a:ea typeface="Calibri"/>
              </a:rPr>
              <a:t>On this slide</a:t>
            </a:r>
          </a:p>
        </p:txBody>
      </p:sp>
      <p:sp>
        <p:nvSpPr>
          <p:cNvPr id="10" name="TextBox 9"/>
          <p:cNvSpPr txBox="1"/>
          <p:nvPr/>
        </p:nvSpPr>
        <p:spPr>
          <a:xfrm>
            <a:off x="6766560" y="1371600"/>
            <a:ext cx="4663440" cy="274320"/>
          </a:xfrm>
          <a:prstGeom prst="rect">
            <a:avLst/>
          </a:prstGeom>
          <a:noFill/>
        </p:spPr>
        <p:txBody>
          <a:bodyPr wrap="none">
            <a:spAutoFit/>
          </a:bodyPr>
          <a:lstStyle/>
          <a:p>
            <a:r>
              <a:rPr sz="1200" b="1" i="0">
                <a:solidFill>
                  <a:srgbClr val="FFFFFF"/>
                </a:solidFill>
                <a:latin typeface="Calibri"/>
                <a:ea typeface="Calibri"/>
              </a:rPr>
              <a:t>Then open in CRM</a:t>
            </a:r>
          </a:p>
        </p:txBody>
      </p:sp>
      <p:sp>
        <p:nvSpPr>
          <p:cNvPr id="11" name="Rectangle 10"/>
          <p:cNvSpPr/>
          <p:nvPr/>
        </p:nvSpPr>
        <p:spPr>
          <a:xfrm>
            <a:off x="502920" y="1673352"/>
            <a:ext cx="111556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64792"/>
            <a:ext cx="1097280" cy="292608"/>
          </a:xfrm>
          <a:prstGeom prst="rect">
            <a:avLst/>
          </a:prstGeom>
          <a:noFill/>
        </p:spPr>
        <p:txBody>
          <a:bodyPr wrap="none">
            <a:spAutoFit/>
          </a:bodyPr>
          <a:lstStyle/>
          <a:p>
            <a:r>
              <a:rPr sz="1400" b="0" i="0">
                <a:solidFill>
                  <a:srgbClr val="4A5568"/>
                </a:solidFill>
                <a:latin typeface="Calibri"/>
                <a:ea typeface="Calibri"/>
              </a:rPr>
              <a:t>00:00</a:t>
            </a:r>
          </a:p>
        </p:txBody>
      </p:sp>
      <p:sp>
        <p:nvSpPr>
          <p:cNvPr id="13" name="TextBox 12"/>
          <p:cNvSpPr txBox="1"/>
          <p:nvPr/>
        </p:nvSpPr>
        <p:spPr>
          <a:xfrm>
            <a:off x="1737360" y="1764792"/>
            <a:ext cx="822960" cy="292608"/>
          </a:xfrm>
          <a:prstGeom prst="rect">
            <a:avLst/>
          </a:prstGeom>
          <a:noFill/>
        </p:spPr>
        <p:txBody>
          <a:bodyPr wrap="none">
            <a:spAutoFit/>
          </a:bodyPr>
          <a:lstStyle/>
          <a:p>
            <a:r>
              <a:rPr sz="1400" b="0" i="0">
                <a:solidFill>
                  <a:srgbClr val="4A5568"/>
                </a:solidFill>
                <a:latin typeface="Calibri"/>
                <a:ea typeface="Calibri"/>
              </a:rPr>
              <a:t>0</a:t>
            </a:r>
          </a:p>
        </p:txBody>
      </p:sp>
      <p:sp>
        <p:nvSpPr>
          <p:cNvPr id="14" name="TextBox 13"/>
          <p:cNvSpPr txBox="1"/>
          <p:nvPr/>
        </p:nvSpPr>
        <p:spPr>
          <a:xfrm>
            <a:off x="2560320" y="1764792"/>
            <a:ext cx="4206240" cy="292608"/>
          </a:xfrm>
          <a:prstGeom prst="rect">
            <a:avLst/>
          </a:prstGeom>
          <a:noFill/>
        </p:spPr>
        <p:txBody>
          <a:bodyPr wrap="none">
            <a:spAutoFit/>
          </a:bodyPr>
          <a:lstStyle/>
          <a:p>
            <a:r>
              <a:rPr sz="1400" b="1" i="0">
                <a:solidFill>
                  <a:srgbClr val="0B1F3A"/>
                </a:solidFill>
                <a:latin typeface="Calibri"/>
                <a:ea typeface="Calibri"/>
              </a:rPr>
              <a:t>Four brands, one CRM</a:t>
            </a:r>
          </a:p>
        </p:txBody>
      </p:sp>
      <p:sp>
        <p:nvSpPr>
          <p:cNvPr id="15" name="TextBox 14"/>
          <p:cNvSpPr txBox="1"/>
          <p:nvPr/>
        </p:nvSpPr>
        <p:spPr>
          <a:xfrm>
            <a:off x="6766560" y="1764792"/>
            <a:ext cx="4663440" cy="292608"/>
          </a:xfrm>
          <a:prstGeom prst="rect">
            <a:avLst/>
          </a:prstGeom>
          <a:noFill/>
        </p:spPr>
        <p:txBody>
          <a:bodyPr wrap="none">
            <a:spAutoFit/>
          </a:bodyPr>
          <a:lstStyle/>
          <a:p>
            <a:r>
              <a:rPr sz="1400" b="0" i="0">
                <a:solidFill>
                  <a:srgbClr val="4A5568"/>
                </a:solidFill>
                <a:latin typeface="Calibri"/>
                <a:ea typeface="Calibri"/>
              </a:rPr>
              <a:t>Accounts → Ekya | CMR Group</a:t>
            </a:r>
          </a:p>
        </p:txBody>
      </p:sp>
      <p:sp>
        <p:nvSpPr>
          <p:cNvPr id="16" name="Rectangle 15"/>
          <p:cNvSpPr/>
          <p:nvPr/>
        </p:nvSpPr>
        <p:spPr>
          <a:xfrm>
            <a:off x="502920" y="2148840"/>
            <a:ext cx="11155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240280"/>
            <a:ext cx="1097280" cy="292608"/>
          </a:xfrm>
          <a:prstGeom prst="rect">
            <a:avLst/>
          </a:prstGeom>
          <a:noFill/>
        </p:spPr>
        <p:txBody>
          <a:bodyPr wrap="none">
            <a:spAutoFit/>
          </a:bodyPr>
          <a:lstStyle/>
          <a:p>
            <a:r>
              <a:rPr sz="1400" b="0" i="0">
                <a:solidFill>
                  <a:srgbClr val="4A5568"/>
                </a:solidFill>
                <a:latin typeface="Calibri"/>
                <a:ea typeface="Calibri"/>
              </a:rPr>
              <a:t>01:30</a:t>
            </a:r>
          </a:p>
        </p:txBody>
      </p:sp>
      <p:sp>
        <p:nvSpPr>
          <p:cNvPr id="18" name="TextBox 17"/>
          <p:cNvSpPr txBox="1"/>
          <p:nvPr/>
        </p:nvSpPr>
        <p:spPr>
          <a:xfrm>
            <a:off x="1737360" y="2240280"/>
            <a:ext cx="822960" cy="292608"/>
          </a:xfrm>
          <a:prstGeom prst="rect">
            <a:avLst/>
          </a:prstGeom>
          <a:noFill/>
        </p:spPr>
        <p:txBody>
          <a:bodyPr wrap="none">
            <a:spAutoFit/>
          </a:bodyPr>
          <a:lstStyle/>
          <a:p>
            <a:r>
              <a:rPr sz="1400" b="0" i="0">
                <a:solidFill>
                  <a:srgbClr val="4A5568"/>
                </a:solidFill>
                <a:latin typeface="Calibri"/>
                <a:ea typeface="Calibri"/>
              </a:rPr>
              <a:t>1</a:t>
            </a:r>
          </a:p>
        </p:txBody>
      </p:sp>
      <p:sp>
        <p:nvSpPr>
          <p:cNvPr id="19" name="TextBox 18"/>
          <p:cNvSpPr txBox="1"/>
          <p:nvPr/>
        </p:nvSpPr>
        <p:spPr>
          <a:xfrm>
            <a:off x="2560320" y="2240280"/>
            <a:ext cx="4206240" cy="292608"/>
          </a:xfrm>
          <a:prstGeom prst="rect">
            <a:avLst/>
          </a:prstGeom>
          <a:noFill/>
        </p:spPr>
        <p:txBody>
          <a:bodyPr wrap="none">
            <a:spAutoFit/>
          </a:bodyPr>
          <a:lstStyle/>
          <a:p>
            <a:r>
              <a:rPr sz="1400" b="1" i="0">
                <a:solidFill>
                  <a:srgbClr val="0B1F3A"/>
                </a:solidFill>
                <a:latin typeface="Calibri"/>
                <a:ea typeface="Calibri"/>
              </a:rPr>
              <a:t>Same phone, two campuses</a:t>
            </a:r>
          </a:p>
        </p:txBody>
      </p:sp>
      <p:sp>
        <p:nvSpPr>
          <p:cNvPr id="20" name="TextBox 19"/>
          <p:cNvSpPr txBox="1"/>
          <p:nvPr/>
        </p:nvSpPr>
        <p:spPr>
          <a:xfrm>
            <a:off x="6766560" y="2240280"/>
            <a:ext cx="4663440" cy="292608"/>
          </a:xfrm>
          <a:prstGeom prst="rect">
            <a:avLst/>
          </a:prstGeom>
          <a:noFill/>
        </p:spPr>
        <p:txBody>
          <a:bodyPr wrap="none">
            <a:spAutoFit/>
          </a:bodyPr>
          <a:lstStyle/>
          <a:p>
            <a:r>
              <a:rPr sz="1400" b="0" i="0">
                <a:solidFill>
                  <a:srgbClr val="4A5568"/>
                </a:solidFill>
                <a:latin typeface="Calibri"/>
                <a:ea typeface="Calibri"/>
              </a:rPr>
              <a:t>Leads → 9876543210</a:t>
            </a:r>
          </a:p>
        </p:txBody>
      </p:sp>
      <p:sp>
        <p:nvSpPr>
          <p:cNvPr id="21" name="Rectangle 20"/>
          <p:cNvSpPr/>
          <p:nvPr/>
        </p:nvSpPr>
        <p:spPr>
          <a:xfrm>
            <a:off x="502920" y="2624328"/>
            <a:ext cx="111556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715768"/>
            <a:ext cx="1097280" cy="292608"/>
          </a:xfrm>
          <a:prstGeom prst="rect">
            <a:avLst/>
          </a:prstGeom>
          <a:noFill/>
        </p:spPr>
        <p:txBody>
          <a:bodyPr wrap="none">
            <a:spAutoFit/>
          </a:bodyPr>
          <a:lstStyle/>
          <a:p>
            <a:r>
              <a:rPr sz="1400" b="0" i="0">
                <a:solidFill>
                  <a:srgbClr val="4A5568"/>
                </a:solidFill>
                <a:latin typeface="Calibri"/>
                <a:ea typeface="Calibri"/>
              </a:rPr>
              <a:t>04:00</a:t>
            </a:r>
          </a:p>
        </p:txBody>
      </p:sp>
      <p:sp>
        <p:nvSpPr>
          <p:cNvPr id="23" name="TextBox 22"/>
          <p:cNvSpPr txBox="1"/>
          <p:nvPr/>
        </p:nvSpPr>
        <p:spPr>
          <a:xfrm>
            <a:off x="1737360" y="2715768"/>
            <a:ext cx="822960" cy="292608"/>
          </a:xfrm>
          <a:prstGeom prst="rect">
            <a:avLst/>
          </a:prstGeom>
          <a:noFill/>
        </p:spPr>
        <p:txBody>
          <a:bodyPr wrap="none">
            <a:spAutoFit/>
          </a:bodyPr>
          <a:lstStyle/>
          <a:p>
            <a:r>
              <a:rPr sz="1400" b="0" i="0">
                <a:solidFill>
                  <a:srgbClr val="4A5568"/>
                </a:solidFill>
                <a:latin typeface="Calibri"/>
                <a:ea typeface="Calibri"/>
              </a:rPr>
              <a:t>2</a:t>
            </a:r>
          </a:p>
        </p:txBody>
      </p:sp>
      <p:sp>
        <p:nvSpPr>
          <p:cNvPr id="24" name="TextBox 23"/>
          <p:cNvSpPr txBox="1"/>
          <p:nvPr/>
        </p:nvSpPr>
        <p:spPr>
          <a:xfrm>
            <a:off x="2560320" y="2715768"/>
            <a:ext cx="4206240" cy="292608"/>
          </a:xfrm>
          <a:prstGeom prst="rect">
            <a:avLst/>
          </a:prstGeom>
          <a:noFill/>
        </p:spPr>
        <p:txBody>
          <a:bodyPr wrap="none">
            <a:spAutoFit/>
          </a:bodyPr>
          <a:lstStyle/>
          <a:p>
            <a:r>
              <a:rPr sz="1400" b="1" i="0">
                <a:solidFill>
                  <a:srgbClr val="0B1F3A"/>
                </a:solidFill>
                <a:latin typeface="Calibri"/>
                <a:ea typeface="Calibri"/>
              </a:rPr>
              <a:t>Sibling and intercampus</a:t>
            </a:r>
          </a:p>
        </p:txBody>
      </p:sp>
      <p:sp>
        <p:nvSpPr>
          <p:cNvPr id="25" name="TextBox 24"/>
          <p:cNvSpPr txBox="1"/>
          <p:nvPr/>
        </p:nvSpPr>
        <p:spPr>
          <a:xfrm>
            <a:off x="6766560" y="2715768"/>
            <a:ext cx="4663440" cy="292608"/>
          </a:xfrm>
          <a:prstGeom prst="rect">
            <a:avLst/>
          </a:prstGeom>
          <a:noFill/>
        </p:spPr>
        <p:txBody>
          <a:bodyPr wrap="none">
            <a:spAutoFit/>
          </a:bodyPr>
          <a:lstStyle/>
          <a:p>
            <a:r>
              <a:rPr sz="1400" b="0" i="0">
                <a:solidFill>
                  <a:srgbClr val="4A5568"/>
                </a:solidFill>
                <a:latin typeface="Calibri"/>
                <a:ea typeface="Calibri"/>
              </a:rPr>
              <a:t>Reddy, then Iyer</a:t>
            </a:r>
          </a:p>
        </p:txBody>
      </p:sp>
      <p:sp>
        <p:nvSpPr>
          <p:cNvPr id="26" name="Rectangle 25"/>
          <p:cNvSpPr/>
          <p:nvPr/>
        </p:nvSpPr>
        <p:spPr>
          <a:xfrm>
            <a:off x="502920" y="3099816"/>
            <a:ext cx="11155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191256"/>
            <a:ext cx="1097280" cy="292608"/>
          </a:xfrm>
          <a:prstGeom prst="rect">
            <a:avLst/>
          </a:prstGeom>
          <a:noFill/>
        </p:spPr>
        <p:txBody>
          <a:bodyPr wrap="none">
            <a:spAutoFit/>
          </a:bodyPr>
          <a:lstStyle/>
          <a:p>
            <a:r>
              <a:rPr sz="1400" b="0" i="0">
                <a:solidFill>
                  <a:srgbClr val="4A5568"/>
                </a:solidFill>
                <a:latin typeface="Calibri"/>
                <a:ea typeface="Calibri"/>
              </a:rPr>
              <a:t>06:00</a:t>
            </a:r>
          </a:p>
        </p:txBody>
      </p:sp>
      <p:sp>
        <p:nvSpPr>
          <p:cNvPr id="28" name="TextBox 27"/>
          <p:cNvSpPr txBox="1"/>
          <p:nvPr/>
        </p:nvSpPr>
        <p:spPr>
          <a:xfrm>
            <a:off x="1737360" y="3191256"/>
            <a:ext cx="822960" cy="292608"/>
          </a:xfrm>
          <a:prstGeom prst="rect">
            <a:avLst/>
          </a:prstGeom>
          <a:noFill/>
        </p:spPr>
        <p:txBody>
          <a:bodyPr wrap="none">
            <a:spAutoFit/>
          </a:bodyPr>
          <a:lstStyle/>
          <a:p>
            <a:r>
              <a:rPr sz="1400" b="0" i="0">
                <a:solidFill>
                  <a:srgbClr val="4A5568"/>
                </a:solidFill>
                <a:latin typeface="Calibri"/>
                <a:ea typeface="Calibri"/>
              </a:rPr>
              <a:t>3</a:t>
            </a:r>
          </a:p>
        </p:txBody>
      </p:sp>
      <p:sp>
        <p:nvSpPr>
          <p:cNvPr id="29" name="TextBox 28"/>
          <p:cNvSpPr txBox="1"/>
          <p:nvPr/>
        </p:nvSpPr>
        <p:spPr>
          <a:xfrm>
            <a:off x="2560320" y="3191256"/>
            <a:ext cx="4206240" cy="292608"/>
          </a:xfrm>
          <a:prstGeom prst="rect">
            <a:avLst/>
          </a:prstGeom>
          <a:noFill/>
        </p:spPr>
        <p:txBody>
          <a:bodyPr wrap="none">
            <a:spAutoFit/>
          </a:bodyPr>
          <a:lstStyle/>
          <a:p>
            <a:r>
              <a:rPr sz="1400" b="1" i="0">
                <a:solidFill>
                  <a:srgbClr val="0B1F3A"/>
                </a:solidFill>
                <a:latin typeface="Calibri"/>
                <a:ea typeface="Calibri"/>
              </a:rPr>
              <a:t>Phone, database, abandoned form</a:t>
            </a:r>
          </a:p>
        </p:txBody>
      </p:sp>
      <p:sp>
        <p:nvSpPr>
          <p:cNvPr id="30" name="TextBox 29"/>
          <p:cNvSpPr txBox="1"/>
          <p:nvPr/>
        </p:nvSpPr>
        <p:spPr>
          <a:xfrm>
            <a:off x="6766560" y="3191256"/>
            <a:ext cx="4663440" cy="292608"/>
          </a:xfrm>
          <a:prstGeom prst="rect">
            <a:avLst/>
          </a:prstGeom>
          <a:noFill/>
        </p:spPr>
        <p:txBody>
          <a:bodyPr wrap="none">
            <a:spAutoFit/>
          </a:bodyPr>
          <a:lstStyle/>
          <a:p>
            <a:r>
              <a:rPr sz="1400" b="0" i="0">
                <a:solidFill>
                  <a:srgbClr val="4A5568"/>
                </a:solidFill>
                <a:latin typeface="Calibri"/>
                <a:ea typeface="Calibri"/>
              </a:rPr>
              <a:t>Joseph → Banerjee → Nair</a:t>
            </a:r>
          </a:p>
        </p:txBody>
      </p:sp>
      <p:sp>
        <p:nvSpPr>
          <p:cNvPr id="31" name="Rectangle 30"/>
          <p:cNvSpPr/>
          <p:nvPr/>
        </p:nvSpPr>
        <p:spPr>
          <a:xfrm>
            <a:off x="502920" y="3575304"/>
            <a:ext cx="111556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666744"/>
            <a:ext cx="1097280" cy="292608"/>
          </a:xfrm>
          <a:prstGeom prst="rect">
            <a:avLst/>
          </a:prstGeom>
          <a:noFill/>
        </p:spPr>
        <p:txBody>
          <a:bodyPr wrap="none">
            <a:spAutoFit/>
          </a:bodyPr>
          <a:lstStyle/>
          <a:p>
            <a:r>
              <a:rPr sz="1400" b="0" i="0">
                <a:solidFill>
                  <a:srgbClr val="4A5568"/>
                </a:solidFill>
                <a:latin typeface="Calibri"/>
                <a:ea typeface="Calibri"/>
              </a:rPr>
              <a:t>09:00</a:t>
            </a:r>
          </a:p>
        </p:txBody>
      </p:sp>
      <p:sp>
        <p:nvSpPr>
          <p:cNvPr id="33" name="TextBox 32"/>
          <p:cNvSpPr txBox="1"/>
          <p:nvPr/>
        </p:nvSpPr>
        <p:spPr>
          <a:xfrm>
            <a:off x="1737360" y="3666744"/>
            <a:ext cx="822960" cy="292608"/>
          </a:xfrm>
          <a:prstGeom prst="rect">
            <a:avLst/>
          </a:prstGeom>
          <a:noFill/>
        </p:spPr>
        <p:txBody>
          <a:bodyPr wrap="none">
            <a:spAutoFit/>
          </a:bodyPr>
          <a:lstStyle/>
          <a:p>
            <a:r>
              <a:rPr sz="1400" b="0" i="0">
                <a:solidFill>
                  <a:srgbClr val="4A5568"/>
                </a:solidFill>
                <a:latin typeface="Calibri"/>
                <a:ea typeface="Calibri"/>
              </a:rPr>
              <a:t>4</a:t>
            </a:r>
          </a:p>
        </p:txBody>
      </p:sp>
      <p:sp>
        <p:nvSpPr>
          <p:cNvPr id="34" name="TextBox 33"/>
          <p:cNvSpPr txBox="1"/>
          <p:nvPr/>
        </p:nvSpPr>
        <p:spPr>
          <a:xfrm>
            <a:off x="2560320" y="3666744"/>
            <a:ext cx="4206240" cy="292608"/>
          </a:xfrm>
          <a:prstGeom prst="rect">
            <a:avLst/>
          </a:prstGeom>
          <a:noFill/>
        </p:spPr>
        <p:txBody>
          <a:bodyPr wrap="none">
            <a:spAutoFit/>
          </a:bodyPr>
          <a:lstStyle/>
          <a:p>
            <a:r>
              <a:rPr sz="1400" b="1" i="0">
                <a:solidFill>
                  <a:srgbClr val="0B1F3A"/>
                </a:solidFill>
                <a:latin typeface="Calibri"/>
                <a:ea typeface="Calibri"/>
              </a:rPr>
              <a:t>Campus visit booked and missed</a:t>
            </a:r>
          </a:p>
        </p:txBody>
      </p:sp>
      <p:sp>
        <p:nvSpPr>
          <p:cNvPr id="35" name="TextBox 34"/>
          <p:cNvSpPr txBox="1"/>
          <p:nvPr/>
        </p:nvSpPr>
        <p:spPr>
          <a:xfrm>
            <a:off x="6766560" y="3666744"/>
            <a:ext cx="4663440" cy="292608"/>
          </a:xfrm>
          <a:prstGeom prst="rect">
            <a:avLst/>
          </a:prstGeom>
          <a:noFill/>
        </p:spPr>
        <p:txBody>
          <a:bodyPr wrap="none">
            <a:spAutoFit/>
          </a:bodyPr>
          <a:lstStyle/>
          <a:p>
            <a:r>
              <a:rPr sz="1400" b="0" i="0">
                <a:solidFill>
                  <a:srgbClr val="4A5568"/>
                </a:solidFill>
                <a:latin typeface="Calibri"/>
                <a:ea typeface="Calibri"/>
              </a:rPr>
              <a:t>Menon, then Das</a:t>
            </a:r>
          </a:p>
        </p:txBody>
      </p:sp>
      <p:sp>
        <p:nvSpPr>
          <p:cNvPr id="36" name="Rectangle 35"/>
          <p:cNvSpPr/>
          <p:nvPr/>
        </p:nvSpPr>
        <p:spPr>
          <a:xfrm>
            <a:off x="502920" y="4050792"/>
            <a:ext cx="11155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4142232"/>
            <a:ext cx="1097280" cy="292608"/>
          </a:xfrm>
          <a:prstGeom prst="rect">
            <a:avLst/>
          </a:prstGeom>
          <a:noFill/>
        </p:spPr>
        <p:txBody>
          <a:bodyPr wrap="none">
            <a:spAutoFit/>
          </a:bodyPr>
          <a:lstStyle/>
          <a:p>
            <a:r>
              <a:rPr sz="1400" b="0" i="0">
                <a:solidFill>
                  <a:srgbClr val="4A5568"/>
                </a:solidFill>
                <a:latin typeface="Calibri"/>
                <a:ea typeface="Calibri"/>
              </a:rPr>
              <a:t>12:00</a:t>
            </a:r>
          </a:p>
        </p:txBody>
      </p:sp>
      <p:sp>
        <p:nvSpPr>
          <p:cNvPr id="38" name="TextBox 37"/>
          <p:cNvSpPr txBox="1"/>
          <p:nvPr/>
        </p:nvSpPr>
        <p:spPr>
          <a:xfrm>
            <a:off x="1737360" y="4142232"/>
            <a:ext cx="822960" cy="292608"/>
          </a:xfrm>
          <a:prstGeom prst="rect">
            <a:avLst/>
          </a:prstGeom>
          <a:noFill/>
        </p:spPr>
        <p:txBody>
          <a:bodyPr wrap="none">
            <a:spAutoFit/>
          </a:bodyPr>
          <a:lstStyle/>
          <a:p>
            <a:r>
              <a:rPr sz="1400" b="0" i="0">
                <a:solidFill>
                  <a:srgbClr val="4A5568"/>
                </a:solidFill>
                <a:latin typeface="Calibri"/>
                <a:ea typeface="Calibri"/>
              </a:rPr>
              <a:t>5</a:t>
            </a:r>
          </a:p>
        </p:txBody>
      </p:sp>
      <p:sp>
        <p:nvSpPr>
          <p:cNvPr id="39" name="TextBox 38"/>
          <p:cNvSpPr txBox="1"/>
          <p:nvPr/>
        </p:nvSpPr>
        <p:spPr>
          <a:xfrm>
            <a:off x="2560320" y="4142232"/>
            <a:ext cx="4206240" cy="292608"/>
          </a:xfrm>
          <a:prstGeom prst="rect">
            <a:avLst/>
          </a:prstGeom>
          <a:noFill/>
        </p:spPr>
        <p:txBody>
          <a:bodyPr wrap="none">
            <a:spAutoFit/>
          </a:bodyPr>
          <a:lstStyle/>
          <a:p>
            <a:r>
              <a:rPr sz="1400" b="1" i="0">
                <a:solidFill>
                  <a:srgbClr val="0B1F3A"/>
                </a:solidFill>
                <a:latin typeface="Calibri"/>
                <a:ea typeface="Calibri"/>
              </a:rPr>
              <a:t>Submit → HOS → waitlist or accept</a:t>
            </a:r>
          </a:p>
        </p:txBody>
      </p:sp>
      <p:sp>
        <p:nvSpPr>
          <p:cNvPr id="40" name="TextBox 39"/>
          <p:cNvSpPr txBox="1"/>
          <p:nvPr/>
        </p:nvSpPr>
        <p:spPr>
          <a:xfrm>
            <a:off x="6766560" y="4142232"/>
            <a:ext cx="4663440" cy="292608"/>
          </a:xfrm>
          <a:prstGeom prst="rect">
            <a:avLst/>
          </a:prstGeom>
          <a:noFill/>
        </p:spPr>
        <p:txBody>
          <a:bodyPr wrap="none">
            <a:spAutoFit/>
          </a:bodyPr>
          <a:lstStyle/>
          <a:p>
            <a:r>
              <a:rPr sz="1400" b="0" i="0">
                <a:solidFill>
                  <a:srgbClr val="4A5568"/>
                </a:solidFill>
                <a:latin typeface="Calibri"/>
                <a:ea typeface="Calibri"/>
              </a:rPr>
              <a:t>Khan → Rao → Patel → Mehta</a:t>
            </a:r>
          </a:p>
        </p:txBody>
      </p:sp>
      <p:sp>
        <p:nvSpPr>
          <p:cNvPr id="41" name="Rectangle 40"/>
          <p:cNvSpPr/>
          <p:nvPr/>
        </p:nvSpPr>
        <p:spPr>
          <a:xfrm>
            <a:off x="502920" y="4526280"/>
            <a:ext cx="111556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4617720"/>
            <a:ext cx="1097280" cy="292608"/>
          </a:xfrm>
          <a:prstGeom prst="rect">
            <a:avLst/>
          </a:prstGeom>
          <a:noFill/>
        </p:spPr>
        <p:txBody>
          <a:bodyPr wrap="none">
            <a:spAutoFit/>
          </a:bodyPr>
          <a:lstStyle/>
          <a:p>
            <a:r>
              <a:rPr sz="1400" b="0" i="0">
                <a:solidFill>
                  <a:srgbClr val="4A5568"/>
                </a:solidFill>
                <a:latin typeface="Calibri"/>
                <a:ea typeface="Calibri"/>
              </a:rPr>
              <a:t>16:00</a:t>
            </a:r>
          </a:p>
        </p:txBody>
      </p:sp>
      <p:sp>
        <p:nvSpPr>
          <p:cNvPr id="43" name="TextBox 42"/>
          <p:cNvSpPr txBox="1"/>
          <p:nvPr/>
        </p:nvSpPr>
        <p:spPr>
          <a:xfrm>
            <a:off x="1737360" y="4617720"/>
            <a:ext cx="822960" cy="292608"/>
          </a:xfrm>
          <a:prstGeom prst="rect">
            <a:avLst/>
          </a:prstGeom>
          <a:noFill/>
        </p:spPr>
        <p:txBody>
          <a:bodyPr wrap="none">
            <a:spAutoFit/>
          </a:bodyPr>
          <a:lstStyle/>
          <a:p>
            <a:r>
              <a:rPr sz="1400" b="0" i="0">
                <a:solidFill>
                  <a:srgbClr val="4A5568"/>
                </a:solidFill>
                <a:latin typeface="Calibri"/>
                <a:ea typeface="Calibri"/>
              </a:rPr>
              <a:t>6</a:t>
            </a:r>
          </a:p>
        </p:txBody>
      </p:sp>
      <p:sp>
        <p:nvSpPr>
          <p:cNvPr id="44" name="TextBox 43"/>
          <p:cNvSpPr txBox="1"/>
          <p:nvPr/>
        </p:nvSpPr>
        <p:spPr>
          <a:xfrm>
            <a:off x="2560320" y="4617720"/>
            <a:ext cx="4206240" cy="292608"/>
          </a:xfrm>
          <a:prstGeom prst="rect">
            <a:avLst/>
          </a:prstGeom>
          <a:noFill/>
        </p:spPr>
        <p:txBody>
          <a:bodyPr wrap="none">
            <a:spAutoFit/>
          </a:bodyPr>
          <a:lstStyle/>
          <a:p>
            <a:r>
              <a:rPr sz="1400" b="1" i="0">
                <a:solidFill>
                  <a:srgbClr val="0B1F3A"/>
                </a:solidFill>
                <a:latin typeface="Calibri"/>
                <a:ea typeface="Calibri"/>
              </a:rPr>
              <a:t>PU is a different journey</a:t>
            </a:r>
          </a:p>
        </p:txBody>
      </p:sp>
      <p:sp>
        <p:nvSpPr>
          <p:cNvPr id="45" name="TextBox 44"/>
          <p:cNvSpPr txBox="1"/>
          <p:nvPr/>
        </p:nvSpPr>
        <p:spPr>
          <a:xfrm>
            <a:off x="6766560" y="4617720"/>
            <a:ext cx="4663440" cy="292608"/>
          </a:xfrm>
          <a:prstGeom prst="rect">
            <a:avLst/>
          </a:prstGeom>
          <a:noFill/>
        </p:spPr>
        <p:txBody>
          <a:bodyPr wrap="none">
            <a:spAutoFit/>
          </a:bodyPr>
          <a:lstStyle/>
          <a:p>
            <a:r>
              <a:rPr sz="1400" b="0" i="0">
                <a:solidFill>
                  <a:srgbClr val="4A5568"/>
                </a:solidFill>
                <a:latin typeface="Calibri"/>
                <a:ea typeface="Calibri"/>
              </a:rPr>
              <a:t>Gowda + Deals</a:t>
            </a:r>
          </a:p>
        </p:txBody>
      </p:sp>
      <p:sp>
        <p:nvSpPr>
          <p:cNvPr id="46" name="Rectangle 45"/>
          <p:cNvSpPr/>
          <p:nvPr/>
        </p:nvSpPr>
        <p:spPr>
          <a:xfrm>
            <a:off x="502920" y="5001768"/>
            <a:ext cx="11155680"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 y="5093208"/>
            <a:ext cx="1097280" cy="292608"/>
          </a:xfrm>
          <a:prstGeom prst="rect">
            <a:avLst/>
          </a:prstGeom>
          <a:noFill/>
        </p:spPr>
        <p:txBody>
          <a:bodyPr wrap="none">
            <a:spAutoFit/>
          </a:bodyPr>
          <a:lstStyle/>
          <a:p>
            <a:r>
              <a:rPr sz="1400" b="0" i="0">
                <a:solidFill>
                  <a:srgbClr val="4A5568"/>
                </a:solidFill>
                <a:latin typeface="Calibri"/>
                <a:ea typeface="Calibri"/>
              </a:rPr>
              <a:t>17:30</a:t>
            </a:r>
          </a:p>
        </p:txBody>
      </p:sp>
      <p:sp>
        <p:nvSpPr>
          <p:cNvPr id="48" name="TextBox 47"/>
          <p:cNvSpPr txBox="1"/>
          <p:nvPr/>
        </p:nvSpPr>
        <p:spPr>
          <a:xfrm>
            <a:off x="1737360" y="5093208"/>
            <a:ext cx="822960" cy="292608"/>
          </a:xfrm>
          <a:prstGeom prst="rect">
            <a:avLst/>
          </a:prstGeom>
          <a:noFill/>
        </p:spPr>
        <p:txBody>
          <a:bodyPr wrap="none">
            <a:spAutoFit/>
          </a:bodyPr>
          <a:lstStyle/>
          <a:p>
            <a:r>
              <a:rPr sz="1400" b="0" i="0">
                <a:solidFill>
                  <a:srgbClr val="4A5568"/>
                </a:solidFill>
                <a:latin typeface="Calibri"/>
                <a:ea typeface="Calibri"/>
              </a:rPr>
              <a:t>7</a:t>
            </a:r>
          </a:p>
        </p:txBody>
      </p:sp>
      <p:sp>
        <p:nvSpPr>
          <p:cNvPr id="49" name="TextBox 48"/>
          <p:cNvSpPr txBox="1"/>
          <p:nvPr/>
        </p:nvSpPr>
        <p:spPr>
          <a:xfrm>
            <a:off x="2560320" y="5093208"/>
            <a:ext cx="4206240" cy="292608"/>
          </a:xfrm>
          <a:prstGeom prst="rect">
            <a:avLst/>
          </a:prstGeom>
          <a:noFill/>
        </p:spPr>
        <p:txBody>
          <a:bodyPr wrap="none">
            <a:spAutoFit/>
          </a:bodyPr>
          <a:lstStyle/>
          <a:p>
            <a:r>
              <a:rPr sz="1400" b="1" i="0">
                <a:solidFill>
                  <a:srgbClr val="0B1F3A"/>
                </a:solidFill>
                <a:latin typeface="Calibri"/>
                <a:ea typeface="Calibri"/>
              </a:rPr>
              <a:t>What is already automated</a:t>
            </a:r>
          </a:p>
        </p:txBody>
      </p:sp>
      <p:sp>
        <p:nvSpPr>
          <p:cNvPr id="50" name="TextBox 49"/>
          <p:cNvSpPr txBox="1"/>
          <p:nvPr/>
        </p:nvSpPr>
        <p:spPr>
          <a:xfrm>
            <a:off x="6766560" y="5093208"/>
            <a:ext cx="4663440" cy="292608"/>
          </a:xfrm>
          <a:prstGeom prst="rect">
            <a:avLst/>
          </a:prstGeom>
          <a:noFill/>
        </p:spPr>
        <p:txBody>
          <a:bodyPr wrap="none">
            <a:spAutoFit/>
          </a:bodyPr>
          <a:lstStyle/>
          <a:p>
            <a:r>
              <a:rPr sz="1400" b="0" i="0">
                <a:solidFill>
                  <a:srgbClr val="4A5568"/>
                </a:solidFill>
                <a:latin typeface="Calibri"/>
                <a:ea typeface="Calibri"/>
              </a:rPr>
              <a:t>Setup → Ekya workflows</a:t>
            </a:r>
          </a:p>
        </p:txBody>
      </p:sp>
      <p:sp>
        <p:nvSpPr>
          <p:cNvPr id="51" name="Rectangle 50"/>
          <p:cNvSpPr/>
          <p:nvPr/>
        </p:nvSpPr>
        <p:spPr>
          <a:xfrm>
            <a:off x="502920" y="5477256"/>
            <a:ext cx="11155680" cy="47548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080" y="5568696"/>
            <a:ext cx="1097280" cy="292608"/>
          </a:xfrm>
          <a:prstGeom prst="rect">
            <a:avLst/>
          </a:prstGeom>
          <a:noFill/>
        </p:spPr>
        <p:txBody>
          <a:bodyPr wrap="none">
            <a:spAutoFit/>
          </a:bodyPr>
          <a:lstStyle/>
          <a:p>
            <a:r>
              <a:rPr sz="1400" b="0" i="0">
                <a:solidFill>
                  <a:srgbClr val="4A5568"/>
                </a:solidFill>
                <a:latin typeface="Calibri"/>
                <a:ea typeface="Calibri"/>
              </a:rPr>
              <a:t>19:00</a:t>
            </a:r>
          </a:p>
        </p:txBody>
      </p:sp>
      <p:sp>
        <p:nvSpPr>
          <p:cNvPr id="53" name="TextBox 52"/>
          <p:cNvSpPr txBox="1"/>
          <p:nvPr/>
        </p:nvSpPr>
        <p:spPr>
          <a:xfrm>
            <a:off x="1737360" y="5568696"/>
            <a:ext cx="822960" cy="292608"/>
          </a:xfrm>
          <a:prstGeom prst="rect">
            <a:avLst/>
          </a:prstGeom>
          <a:noFill/>
        </p:spPr>
        <p:txBody>
          <a:bodyPr wrap="none">
            <a:spAutoFit/>
          </a:bodyPr>
          <a:lstStyle/>
          <a:p>
            <a:r>
              <a:rPr sz="1400" b="0" i="0">
                <a:solidFill>
                  <a:srgbClr val="4A5568"/>
                </a:solidFill>
                <a:latin typeface="Calibri"/>
                <a:ea typeface="Calibri"/>
              </a:rPr>
              <a:t>8</a:t>
            </a:r>
          </a:p>
        </p:txBody>
      </p:sp>
      <p:sp>
        <p:nvSpPr>
          <p:cNvPr id="54" name="TextBox 53"/>
          <p:cNvSpPr txBox="1"/>
          <p:nvPr/>
        </p:nvSpPr>
        <p:spPr>
          <a:xfrm>
            <a:off x="2560320" y="5568696"/>
            <a:ext cx="4206240" cy="292608"/>
          </a:xfrm>
          <a:prstGeom prst="rect">
            <a:avLst/>
          </a:prstGeom>
          <a:noFill/>
        </p:spPr>
        <p:txBody>
          <a:bodyPr wrap="none">
            <a:spAutoFit/>
          </a:bodyPr>
          <a:lstStyle/>
          <a:p>
            <a:r>
              <a:rPr sz="1400" b="1" i="0">
                <a:solidFill>
                  <a:srgbClr val="0B1F3A"/>
                </a:solidFill>
                <a:latin typeface="Calibri"/>
                <a:ea typeface="Calibri"/>
              </a:rPr>
              <a:t>Close and go-live</a:t>
            </a:r>
          </a:p>
        </p:txBody>
      </p:sp>
      <p:sp>
        <p:nvSpPr>
          <p:cNvPr id="55" name="TextBox 54"/>
          <p:cNvSpPr txBox="1"/>
          <p:nvPr/>
        </p:nvSpPr>
        <p:spPr>
          <a:xfrm>
            <a:off x="6766560" y="5568696"/>
            <a:ext cx="4663440" cy="292608"/>
          </a:xfrm>
          <a:prstGeom prst="rect">
            <a:avLst/>
          </a:prstGeom>
          <a:noFill/>
        </p:spPr>
        <p:txBody>
          <a:bodyPr wrap="none">
            <a:spAutoFit/>
          </a:bodyPr>
          <a:lstStyle/>
          <a:p>
            <a:r>
              <a:rPr sz="1400" b="0" i="0">
                <a:solidFill>
                  <a:srgbClr val="4A5568"/>
                </a:solidFill>
                <a:latin typeface="Calibri"/>
                <a:ea typeface="Calibri"/>
              </a:rPr>
              <a:t>Questions</a:t>
            </a:r>
          </a:p>
        </p:txBody>
      </p:sp>
      <p:sp>
        <p:nvSpPr>
          <p:cNvPr id="56" name="TextBox 55"/>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BEFORE WE CLICK</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How to watch this demo</a:t>
            </a:r>
          </a:p>
        </p:txBody>
      </p:sp>
      <p:sp>
        <p:nvSpPr>
          <p:cNvPr id="6" name="Rectangle 5"/>
          <p:cNvSpPr/>
          <p:nvPr/>
        </p:nvSpPr>
        <p:spPr>
          <a:xfrm>
            <a:off x="502920" y="1417320"/>
            <a:ext cx="5440680" cy="19659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417320"/>
            <a:ext cx="109728" cy="196596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73352"/>
            <a:ext cx="4846320" cy="365760"/>
          </a:xfrm>
          <a:prstGeom prst="rect">
            <a:avLst/>
          </a:prstGeom>
          <a:noFill/>
        </p:spPr>
        <p:txBody>
          <a:bodyPr wrap="none">
            <a:spAutoFit/>
          </a:bodyPr>
          <a:lstStyle/>
          <a:p>
            <a:r>
              <a:rPr sz="1800" b="1" i="0">
                <a:solidFill>
                  <a:srgbClr val="0B1F3A"/>
                </a:solidFill>
                <a:latin typeface="Calibri"/>
                <a:ea typeface="Calibri"/>
              </a:rPr>
              <a:t>Look at</a:t>
            </a:r>
          </a:p>
        </p:txBody>
      </p:sp>
      <p:sp>
        <p:nvSpPr>
          <p:cNvPr id="9" name="TextBox 8"/>
          <p:cNvSpPr txBox="1"/>
          <p:nvPr/>
        </p:nvSpPr>
        <p:spPr>
          <a:xfrm>
            <a:off x="868680" y="2148840"/>
            <a:ext cx="4846320" cy="1005840"/>
          </a:xfrm>
          <a:prstGeom prst="rect">
            <a:avLst/>
          </a:prstGeom>
          <a:noFill/>
        </p:spPr>
        <p:txBody>
          <a:bodyPr wrap="square">
            <a:spAutoFit/>
          </a:bodyPr>
          <a:lstStyle/>
          <a:p>
            <a:r>
              <a:rPr sz="1600" b="0" i="0">
                <a:solidFill>
                  <a:srgbClr val="4A5568"/>
                </a:solidFill>
                <a:latin typeface="Calibri"/>
                <a:ea typeface="Calibri"/>
              </a:rPr>
              <a:t>Ekya Lead Stage, Brand, Campus, App Type, Form Status, Visit Status, Founder Decision.</a:t>
            </a:r>
          </a:p>
        </p:txBody>
      </p:sp>
      <p:sp>
        <p:nvSpPr>
          <p:cNvPr id="10" name="Rectangle 9"/>
          <p:cNvSpPr/>
          <p:nvPr/>
        </p:nvSpPr>
        <p:spPr>
          <a:xfrm>
            <a:off x="6217920" y="1417320"/>
            <a:ext cx="5440680" cy="19659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417320"/>
            <a:ext cx="109728" cy="1965960"/>
          </a:xfrm>
          <a:prstGeom prst="rect">
            <a:avLst/>
          </a:prstGeom>
          <a:solidFill>
            <a:srgbClr val="C4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673352"/>
            <a:ext cx="4846320" cy="365760"/>
          </a:xfrm>
          <a:prstGeom prst="rect">
            <a:avLst/>
          </a:prstGeom>
          <a:noFill/>
        </p:spPr>
        <p:txBody>
          <a:bodyPr wrap="none">
            <a:spAutoFit/>
          </a:bodyPr>
          <a:lstStyle/>
          <a:p>
            <a:r>
              <a:rPr sz="1800" b="1" i="0">
                <a:solidFill>
                  <a:srgbClr val="0B1F3A"/>
                </a:solidFill>
                <a:latin typeface="Calibri"/>
                <a:ea typeface="Calibri"/>
              </a:rPr>
              <a:t>Ignore</a:t>
            </a:r>
          </a:p>
        </p:txBody>
      </p:sp>
      <p:sp>
        <p:nvSpPr>
          <p:cNvPr id="13" name="TextBox 12"/>
          <p:cNvSpPr txBox="1"/>
          <p:nvPr/>
        </p:nvSpPr>
        <p:spPr>
          <a:xfrm>
            <a:off x="6583680" y="2148840"/>
            <a:ext cx="4846320" cy="1005840"/>
          </a:xfrm>
          <a:prstGeom prst="rect">
            <a:avLst/>
          </a:prstGeom>
          <a:noFill/>
        </p:spPr>
        <p:txBody>
          <a:bodyPr wrap="square">
            <a:spAutoFit/>
          </a:bodyPr>
          <a:lstStyle/>
          <a:p>
            <a:r>
              <a:rPr sz="1600" b="0" i="0">
                <a:solidFill>
                  <a:srgbClr val="4A5568"/>
                </a:solidFill>
                <a:latin typeface="Calibri"/>
                <a:ea typeface="Calibri"/>
              </a:rPr>
              <a:t>Admission Stage. That picklist belongs to an older process in this org.</a:t>
            </a:r>
          </a:p>
        </p:txBody>
      </p:sp>
      <p:sp>
        <p:nvSpPr>
          <p:cNvPr id="14" name="Rectangle 13"/>
          <p:cNvSpPr/>
          <p:nvPr/>
        </p:nvSpPr>
        <p:spPr>
          <a:xfrm>
            <a:off x="502920" y="3566160"/>
            <a:ext cx="5440680" cy="19659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920" y="3566160"/>
            <a:ext cx="109728" cy="196596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822192"/>
            <a:ext cx="4846320" cy="365760"/>
          </a:xfrm>
          <a:prstGeom prst="rect">
            <a:avLst/>
          </a:prstGeom>
          <a:noFill/>
        </p:spPr>
        <p:txBody>
          <a:bodyPr wrap="none">
            <a:spAutoFit/>
          </a:bodyPr>
          <a:lstStyle/>
          <a:p>
            <a:r>
              <a:rPr sz="1800" b="1" i="0">
                <a:solidFill>
                  <a:srgbClr val="0B1F3A"/>
                </a:solidFill>
                <a:latin typeface="Calibri"/>
                <a:ea typeface="Calibri"/>
              </a:rPr>
              <a:t>Do not edit</a:t>
            </a:r>
          </a:p>
        </p:txBody>
      </p:sp>
      <p:sp>
        <p:nvSpPr>
          <p:cNvPr id="17" name="TextBox 16"/>
          <p:cNvSpPr txBox="1"/>
          <p:nvPr/>
        </p:nvSpPr>
        <p:spPr>
          <a:xfrm>
            <a:off x="868680" y="4297680"/>
            <a:ext cx="4846320" cy="1005840"/>
          </a:xfrm>
          <a:prstGeom prst="rect">
            <a:avLst/>
          </a:prstGeom>
          <a:noFill/>
        </p:spPr>
        <p:txBody>
          <a:bodyPr wrap="square">
            <a:spAutoFit/>
          </a:bodyPr>
          <a:lstStyle/>
          <a:p>
            <a:r>
              <a:rPr sz="1600" b="0" i="0">
                <a:solidFill>
                  <a:srgbClr val="4A5568"/>
                </a:solidFill>
                <a:latin typeface="Calibri"/>
                <a:ea typeface="Calibri"/>
              </a:rPr>
              <a:t>Sharma, Menon, Das, Rao, Patel, or Mehta while the customer is watching.</a:t>
            </a:r>
          </a:p>
        </p:txBody>
      </p:sp>
      <p:sp>
        <p:nvSpPr>
          <p:cNvPr id="18" name="Rectangle 17"/>
          <p:cNvSpPr/>
          <p:nvPr/>
        </p:nvSpPr>
        <p:spPr>
          <a:xfrm>
            <a:off x="6217920" y="3566160"/>
            <a:ext cx="5440680" cy="19659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3566160"/>
            <a:ext cx="109728" cy="196596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822192"/>
            <a:ext cx="4846320" cy="365760"/>
          </a:xfrm>
          <a:prstGeom prst="rect">
            <a:avLst/>
          </a:prstGeom>
          <a:noFill/>
        </p:spPr>
        <p:txBody>
          <a:bodyPr wrap="none">
            <a:spAutoFit/>
          </a:bodyPr>
          <a:lstStyle/>
          <a:p>
            <a:r>
              <a:rPr sz="1800" b="1" i="0">
                <a:solidFill>
                  <a:srgbClr val="0B1F3A"/>
                </a:solidFill>
                <a:latin typeface="Calibri"/>
                <a:ea typeface="Calibri"/>
              </a:rPr>
              <a:t>Parking lot</a:t>
            </a:r>
          </a:p>
        </p:txBody>
      </p:sp>
      <p:sp>
        <p:nvSpPr>
          <p:cNvPr id="21" name="TextBox 20"/>
          <p:cNvSpPr txBox="1"/>
          <p:nvPr/>
        </p:nvSpPr>
        <p:spPr>
          <a:xfrm>
            <a:off x="6583680" y="4297680"/>
            <a:ext cx="4846320" cy="1005840"/>
          </a:xfrm>
          <a:prstGeom prst="rect">
            <a:avLst/>
          </a:prstGeom>
          <a:noFill/>
        </p:spPr>
        <p:txBody>
          <a:bodyPr wrap="square">
            <a:spAutoFit/>
          </a:bodyPr>
          <a:lstStyle/>
          <a:p>
            <a:r>
              <a:rPr sz="1600" b="0" i="0">
                <a:solidFill>
                  <a:srgbClr val="4A5568"/>
                </a:solidFill>
                <a:latin typeface="Calibri"/>
                <a:ea typeface="Calibri"/>
              </a:rPr>
              <a:t>Parent portal, live WhatsApp, VOIP/IVR, payments, Bookings, Campaigns, Forms OTP.</a:t>
            </a:r>
          </a:p>
        </p:txBody>
      </p:sp>
      <p:sp>
        <p:nvSpPr>
          <p:cNvPr id="22" name="TextBox 21"/>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Ground rules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0  ·  0:00–1:30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Four brands. One CRM.</a:t>
            </a:r>
          </a:p>
        </p:txBody>
      </p:sp>
      <p:sp>
        <p:nvSpPr>
          <p:cNvPr id="6" name="TextBox 5"/>
          <p:cNvSpPr txBox="1"/>
          <p:nvPr/>
        </p:nvSpPr>
        <p:spPr>
          <a:xfrm>
            <a:off x="502920" y="1417320"/>
            <a:ext cx="6766560" cy="4206240"/>
          </a:xfrm>
          <a:prstGeom prst="rect">
            <a:avLst/>
          </a:prstGeom>
          <a:noFill/>
        </p:spPr>
        <p:txBody>
          <a:bodyPr wrap="square">
            <a:spAutoFit/>
          </a:bodyPr>
          <a:lstStyle/>
          <a:p>
            <a:pPr>
              <a:spcAft>
                <a:spcPts val="1000"/>
              </a:spcAft>
              <a:buFont typeface="Calibri"/>
              <a:buChar char="•"/>
            </a:pPr>
            <a:r>
              <a:rPr sz="1800" b="0" i="0">
                <a:solidFill>
                  <a:srgbClr val="1B2433"/>
                </a:solidFill>
                <a:latin typeface="Calibri"/>
                <a:ea typeface="Calibri"/>
              </a:rPr>
              <a:t>The group account holds Ekya Schools, Ekya Nava, CMR NPS, CMR NPUC, and Ekya Vana Early Years.</a:t>
            </a:r>
          </a:p>
          <a:p>
            <a:pPr>
              <a:spcAft>
                <a:spcPts val="1000"/>
              </a:spcAft>
              <a:buFont typeface="Calibri"/>
              <a:buChar char="•"/>
            </a:pPr>
            <a:r>
              <a:rPr sz="1800" b="0" i="0">
                <a:solidFill>
                  <a:srgbClr val="1B2433"/>
                </a:solidFill>
                <a:latin typeface="Calibri"/>
                <a:ea typeface="Calibri"/>
              </a:rPr>
              <a:t>Campuses sit under the brand. Early Years and future campuses add as accounts, not new modules.</a:t>
            </a:r>
          </a:p>
          <a:p>
            <a:pPr>
              <a:spcAft>
                <a:spcPts val="1000"/>
              </a:spcAft>
              <a:buFont typeface="Calibri"/>
              <a:buChar char="•"/>
            </a:pPr>
            <a:r>
              <a:rPr sz="1800" b="0" i="0">
                <a:solidFill>
                  <a:srgbClr val="1B2433"/>
                </a:solidFill>
                <a:latin typeface="Calibri"/>
                <a:ea typeface="Calibri"/>
              </a:rPr>
              <a:t>K-12 and PU are different admissions processes. Brand, Campus, Grade, and App Type split the journey.</a:t>
            </a:r>
          </a:p>
          <a:p>
            <a:pPr>
              <a:spcAft>
                <a:spcPts val="1000"/>
              </a:spcAft>
              <a:buFont typeface="Calibri"/>
              <a:buChar char="•"/>
            </a:pPr>
            <a:r>
              <a:rPr sz="1800" b="0" i="0">
                <a:solidFill>
                  <a:srgbClr val="1B2433"/>
                </a:solidFill>
                <a:latin typeface="Calibri"/>
                <a:ea typeface="Calibri"/>
              </a:rPr>
              <a:t>Campus accounts are locations. They are not finance legal entities.</a:t>
            </a:r>
          </a:p>
        </p:txBody>
      </p:sp>
      <p:sp>
        <p:nvSpPr>
          <p:cNvPr id="7" name="Rectangle 6"/>
          <p:cNvSpPr/>
          <p:nvPr/>
        </p:nvSpPr>
        <p:spPr>
          <a:xfrm>
            <a:off x="7452360" y="1417320"/>
            <a:ext cx="4206240" cy="4023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53528" y="1527048"/>
            <a:ext cx="3840480" cy="256032"/>
          </a:xfrm>
          <a:prstGeom prst="rect">
            <a:avLst/>
          </a:prstGeom>
          <a:noFill/>
        </p:spPr>
        <p:txBody>
          <a:bodyPr wrap="none">
            <a:spAutoFit/>
          </a:bodyPr>
          <a:lstStyle/>
          <a:p>
            <a:r>
              <a:rPr sz="1100" b="1" i="0">
                <a:solidFill>
                  <a:srgbClr val="C4292E"/>
                </a:solidFill>
                <a:latin typeface="Calibri"/>
                <a:ea typeface="Calibri"/>
              </a:rPr>
              <a:t>OPEN IN CRM</a:t>
            </a:r>
          </a:p>
        </p:txBody>
      </p:sp>
      <p:sp>
        <p:nvSpPr>
          <p:cNvPr id="9" name="TextBox 8"/>
          <p:cNvSpPr txBox="1"/>
          <p:nvPr/>
        </p:nvSpPr>
        <p:spPr>
          <a:xfrm>
            <a:off x="7653528" y="1783080"/>
            <a:ext cx="3840480" cy="3566160"/>
          </a:xfrm>
          <a:prstGeom prst="rect">
            <a:avLst/>
          </a:prstGeom>
          <a:noFill/>
        </p:spPr>
        <p:txBody>
          <a:bodyPr wrap="square">
            <a:spAutoFit/>
          </a:bodyPr>
          <a:lstStyle/>
          <a:p>
            <a:r>
              <a:rPr sz="1500" b="1" i="0">
                <a:solidFill>
                  <a:srgbClr val="0B1F3A"/>
                </a:solidFill>
                <a:latin typeface="Calibri"/>
                <a:ea typeface="Calibri"/>
              </a:rPr>
              <a:t>Accounts → Ekya | CMR Group
Expand brand and campus children.
ID 902823000002022001</a:t>
            </a:r>
          </a:p>
        </p:txBody>
      </p:sp>
      <p:sp>
        <p:nvSpPr>
          <p:cNvPr id="10" name="TextBox 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0</a:t>
            </a:r>
          </a:p>
        </p:txBody>
      </p:sp>
      <p:sp>
        <p:nvSpPr>
          <p:cNvPr id="11" name="TextBox 10"/>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Accounts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0  ·  STILL ON ACCOUNTS</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Brands and campuses in this org</a:t>
            </a:r>
          </a:p>
        </p:txBody>
      </p:sp>
      <p:sp>
        <p:nvSpPr>
          <p:cNvPr id="6" name="Rectangle 5"/>
          <p:cNvSpPr/>
          <p:nvPr/>
        </p:nvSpPr>
        <p:spPr>
          <a:xfrm>
            <a:off x="502920" y="1371600"/>
            <a:ext cx="11155680" cy="384048"/>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426464"/>
            <a:ext cx="3657600" cy="274320"/>
          </a:xfrm>
          <a:prstGeom prst="rect">
            <a:avLst/>
          </a:prstGeom>
          <a:noFill/>
        </p:spPr>
        <p:txBody>
          <a:bodyPr wrap="none">
            <a:spAutoFit/>
          </a:bodyPr>
          <a:lstStyle/>
          <a:p>
            <a:r>
              <a:rPr sz="1300" b="1" i="0">
                <a:solidFill>
                  <a:srgbClr val="FFFFFF"/>
                </a:solidFill>
                <a:latin typeface="Calibri"/>
                <a:ea typeface="Calibri"/>
              </a:rPr>
              <a:t>Brand</a:t>
            </a:r>
          </a:p>
        </p:txBody>
      </p:sp>
      <p:sp>
        <p:nvSpPr>
          <p:cNvPr id="8" name="TextBox 7"/>
          <p:cNvSpPr txBox="1"/>
          <p:nvPr/>
        </p:nvSpPr>
        <p:spPr>
          <a:xfrm>
            <a:off x="4389120" y="1426464"/>
            <a:ext cx="5120640" cy="274320"/>
          </a:xfrm>
          <a:prstGeom prst="rect">
            <a:avLst/>
          </a:prstGeom>
          <a:noFill/>
        </p:spPr>
        <p:txBody>
          <a:bodyPr wrap="none">
            <a:spAutoFit/>
          </a:bodyPr>
          <a:lstStyle/>
          <a:p>
            <a:r>
              <a:rPr sz="1300" b="1" i="0">
                <a:solidFill>
                  <a:srgbClr val="FFFFFF"/>
                </a:solidFill>
                <a:latin typeface="Calibri"/>
                <a:ea typeface="Calibri"/>
              </a:rPr>
              <a:t>Campuses</a:t>
            </a:r>
          </a:p>
        </p:txBody>
      </p:sp>
      <p:sp>
        <p:nvSpPr>
          <p:cNvPr id="9" name="TextBox 8"/>
          <p:cNvSpPr txBox="1"/>
          <p:nvPr/>
        </p:nvSpPr>
        <p:spPr>
          <a:xfrm>
            <a:off x="9692640" y="1426464"/>
            <a:ext cx="1737360" cy="274320"/>
          </a:xfrm>
          <a:prstGeom prst="rect">
            <a:avLst/>
          </a:prstGeom>
          <a:noFill/>
        </p:spPr>
        <p:txBody>
          <a:bodyPr wrap="none">
            <a:spAutoFit/>
          </a:bodyPr>
          <a:lstStyle/>
          <a:p>
            <a:r>
              <a:rPr sz="1300" b="1" i="0">
                <a:solidFill>
                  <a:srgbClr val="FFFFFF"/>
                </a:solidFill>
                <a:latin typeface="Calibri"/>
                <a:ea typeface="Calibri"/>
              </a:rPr>
              <a:t>App type</a:t>
            </a:r>
          </a:p>
        </p:txBody>
      </p:sp>
      <p:sp>
        <p:nvSpPr>
          <p:cNvPr id="10" name="Rectangle 9"/>
          <p:cNvSpPr/>
          <p:nvPr/>
        </p:nvSpPr>
        <p:spPr>
          <a:xfrm>
            <a:off x="502920" y="1755648"/>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938528"/>
            <a:ext cx="3657600" cy="384048"/>
          </a:xfrm>
          <a:prstGeom prst="rect">
            <a:avLst/>
          </a:prstGeom>
          <a:noFill/>
        </p:spPr>
        <p:txBody>
          <a:bodyPr wrap="none">
            <a:spAutoFit/>
          </a:bodyPr>
          <a:lstStyle/>
          <a:p>
            <a:r>
              <a:rPr sz="1600" b="1" i="0">
                <a:solidFill>
                  <a:srgbClr val="0B1F3A"/>
                </a:solidFill>
                <a:latin typeface="Calibri"/>
                <a:ea typeface="Calibri"/>
              </a:rPr>
              <a:t>Ekya Schools</a:t>
            </a:r>
          </a:p>
        </p:txBody>
      </p:sp>
      <p:sp>
        <p:nvSpPr>
          <p:cNvPr id="12" name="TextBox 11"/>
          <p:cNvSpPr txBox="1"/>
          <p:nvPr/>
        </p:nvSpPr>
        <p:spPr>
          <a:xfrm>
            <a:off x="4389120" y="1938528"/>
            <a:ext cx="5120640" cy="384048"/>
          </a:xfrm>
          <a:prstGeom prst="rect">
            <a:avLst/>
          </a:prstGeom>
          <a:noFill/>
        </p:spPr>
        <p:txBody>
          <a:bodyPr wrap="none">
            <a:spAutoFit/>
          </a:bodyPr>
          <a:lstStyle/>
          <a:p>
            <a:r>
              <a:rPr sz="1500" b="0" i="0">
                <a:solidFill>
                  <a:srgbClr val="4A5568"/>
                </a:solidFill>
                <a:latin typeface="Calibri"/>
                <a:ea typeface="Calibri"/>
              </a:rPr>
              <a:t>JP Nagar, BTM Layout, ITPL, Byrathi, NICE Road</a:t>
            </a:r>
          </a:p>
        </p:txBody>
      </p:sp>
      <p:sp>
        <p:nvSpPr>
          <p:cNvPr id="13" name="TextBox 12"/>
          <p:cNvSpPr txBox="1"/>
          <p:nvPr/>
        </p:nvSpPr>
        <p:spPr>
          <a:xfrm>
            <a:off x="9692640" y="1938528"/>
            <a:ext cx="1737360" cy="384048"/>
          </a:xfrm>
          <a:prstGeom prst="rect">
            <a:avLst/>
          </a:prstGeom>
          <a:noFill/>
        </p:spPr>
        <p:txBody>
          <a:bodyPr wrap="none">
            <a:spAutoFit/>
          </a:bodyPr>
          <a:lstStyle/>
          <a:p>
            <a:r>
              <a:rPr sz="1600" b="1" i="0">
                <a:solidFill>
                  <a:srgbClr val="0B1F3A"/>
                </a:solidFill>
                <a:latin typeface="Calibri"/>
                <a:ea typeface="Calibri"/>
              </a:rPr>
              <a:t>K-12</a:t>
            </a:r>
          </a:p>
        </p:txBody>
      </p:sp>
      <p:sp>
        <p:nvSpPr>
          <p:cNvPr id="14" name="Rectangle 13"/>
          <p:cNvSpPr/>
          <p:nvPr/>
        </p:nvSpPr>
        <p:spPr>
          <a:xfrm>
            <a:off x="502920" y="2468880"/>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651760"/>
            <a:ext cx="3657600" cy="384048"/>
          </a:xfrm>
          <a:prstGeom prst="rect">
            <a:avLst/>
          </a:prstGeom>
          <a:noFill/>
        </p:spPr>
        <p:txBody>
          <a:bodyPr wrap="none">
            <a:spAutoFit/>
          </a:bodyPr>
          <a:lstStyle/>
          <a:p>
            <a:r>
              <a:rPr sz="1600" b="1" i="0">
                <a:solidFill>
                  <a:srgbClr val="0B1F3A"/>
                </a:solidFill>
                <a:latin typeface="Calibri"/>
                <a:ea typeface="Calibri"/>
              </a:rPr>
              <a:t>CMR National Public School</a:t>
            </a:r>
          </a:p>
        </p:txBody>
      </p:sp>
      <p:sp>
        <p:nvSpPr>
          <p:cNvPr id="16" name="TextBox 15"/>
          <p:cNvSpPr txBox="1"/>
          <p:nvPr/>
        </p:nvSpPr>
        <p:spPr>
          <a:xfrm>
            <a:off x="4389120" y="2651760"/>
            <a:ext cx="5120640" cy="384048"/>
          </a:xfrm>
          <a:prstGeom prst="rect">
            <a:avLst/>
          </a:prstGeom>
          <a:noFill/>
        </p:spPr>
        <p:txBody>
          <a:bodyPr wrap="none">
            <a:spAutoFit/>
          </a:bodyPr>
          <a:lstStyle/>
          <a:p>
            <a:r>
              <a:rPr sz="1500" b="0" i="0">
                <a:solidFill>
                  <a:srgbClr val="4A5568"/>
                </a:solidFill>
                <a:latin typeface="Calibri"/>
                <a:ea typeface="Calibri"/>
              </a:rPr>
              <a:t>HRBR Layout</a:t>
            </a:r>
          </a:p>
        </p:txBody>
      </p:sp>
      <p:sp>
        <p:nvSpPr>
          <p:cNvPr id="17" name="TextBox 16"/>
          <p:cNvSpPr txBox="1"/>
          <p:nvPr/>
        </p:nvSpPr>
        <p:spPr>
          <a:xfrm>
            <a:off x="9692640" y="2651760"/>
            <a:ext cx="1737360" cy="384048"/>
          </a:xfrm>
          <a:prstGeom prst="rect">
            <a:avLst/>
          </a:prstGeom>
          <a:noFill/>
        </p:spPr>
        <p:txBody>
          <a:bodyPr wrap="none">
            <a:spAutoFit/>
          </a:bodyPr>
          <a:lstStyle/>
          <a:p>
            <a:r>
              <a:rPr sz="1600" b="1" i="0">
                <a:solidFill>
                  <a:srgbClr val="0B1F3A"/>
                </a:solidFill>
                <a:latin typeface="Calibri"/>
                <a:ea typeface="Calibri"/>
              </a:rPr>
              <a:t>K-12</a:t>
            </a:r>
          </a:p>
        </p:txBody>
      </p:sp>
      <p:sp>
        <p:nvSpPr>
          <p:cNvPr id="18" name="Rectangle 17"/>
          <p:cNvSpPr/>
          <p:nvPr/>
        </p:nvSpPr>
        <p:spPr>
          <a:xfrm>
            <a:off x="502920" y="3182112"/>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64992"/>
            <a:ext cx="3657600" cy="384048"/>
          </a:xfrm>
          <a:prstGeom prst="rect">
            <a:avLst/>
          </a:prstGeom>
          <a:noFill/>
        </p:spPr>
        <p:txBody>
          <a:bodyPr wrap="none">
            <a:spAutoFit/>
          </a:bodyPr>
          <a:lstStyle/>
          <a:p>
            <a:r>
              <a:rPr sz="1600" b="1" i="0">
                <a:solidFill>
                  <a:srgbClr val="0B1F3A"/>
                </a:solidFill>
                <a:latin typeface="Calibri"/>
                <a:ea typeface="Calibri"/>
              </a:rPr>
              <a:t>Ekya Nava</a:t>
            </a:r>
          </a:p>
        </p:txBody>
      </p:sp>
      <p:sp>
        <p:nvSpPr>
          <p:cNvPr id="20" name="TextBox 19"/>
          <p:cNvSpPr txBox="1"/>
          <p:nvPr/>
        </p:nvSpPr>
        <p:spPr>
          <a:xfrm>
            <a:off x="4389120" y="3364992"/>
            <a:ext cx="5120640" cy="384048"/>
          </a:xfrm>
          <a:prstGeom prst="rect">
            <a:avLst/>
          </a:prstGeom>
          <a:noFill/>
        </p:spPr>
        <p:txBody>
          <a:bodyPr wrap="none">
            <a:spAutoFit/>
          </a:bodyPr>
          <a:lstStyle/>
          <a:p>
            <a:r>
              <a:rPr sz="1500" b="0" i="0">
                <a:solidFill>
                  <a:srgbClr val="4A5568"/>
                </a:solidFill>
                <a:latin typeface="Calibri"/>
                <a:ea typeface="Calibri"/>
              </a:rPr>
              <a:t>Panathur</a:t>
            </a:r>
          </a:p>
        </p:txBody>
      </p:sp>
      <p:sp>
        <p:nvSpPr>
          <p:cNvPr id="21" name="TextBox 20"/>
          <p:cNvSpPr txBox="1"/>
          <p:nvPr/>
        </p:nvSpPr>
        <p:spPr>
          <a:xfrm>
            <a:off x="9692640" y="3364992"/>
            <a:ext cx="1737360" cy="384048"/>
          </a:xfrm>
          <a:prstGeom prst="rect">
            <a:avLst/>
          </a:prstGeom>
          <a:noFill/>
        </p:spPr>
        <p:txBody>
          <a:bodyPr wrap="none">
            <a:spAutoFit/>
          </a:bodyPr>
          <a:lstStyle/>
          <a:p>
            <a:r>
              <a:rPr sz="1600" b="1" i="0">
                <a:solidFill>
                  <a:srgbClr val="0B1F3A"/>
                </a:solidFill>
                <a:latin typeface="Calibri"/>
                <a:ea typeface="Calibri"/>
              </a:rPr>
              <a:t>K-12</a:t>
            </a:r>
          </a:p>
        </p:txBody>
      </p:sp>
      <p:sp>
        <p:nvSpPr>
          <p:cNvPr id="22" name="Rectangle 21"/>
          <p:cNvSpPr/>
          <p:nvPr/>
        </p:nvSpPr>
        <p:spPr>
          <a:xfrm>
            <a:off x="502920" y="3895344"/>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078224"/>
            <a:ext cx="3657600" cy="384048"/>
          </a:xfrm>
          <a:prstGeom prst="rect">
            <a:avLst/>
          </a:prstGeom>
          <a:noFill/>
        </p:spPr>
        <p:txBody>
          <a:bodyPr wrap="none">
            <a:spAutoFit/>
          </a:bodyPr>
          <a:lstStyle/>
          <a:p>
            <a:r>
              <a:rPr sz="1600" b="1" i="0">
                <a:solidFill>
                  <a:srgbClr val="0B1F3A"/>
                </a:solidFill>
                <a:latin typeface="Calibri"/>
                <a:ea typeface="Calibri"/>
              </a:rPr>
              <a:t>CMR National PU College</a:t>
            </a:r>
          </a:p>
        </p:txBody>
      </p:sp>
      <p:sp>
        <p:nvSpPr>
          <p:cNvPr id="24" name="TextBox 23"/>
          <p:cNvSpPr txBox="1"/>
          <p:nvPr/>
        </p:nvSpPr>
        <p:spPr>
          <a:xfrm>
            <a:off x="4389120" y="4078224"/>
            <a:ext cx="5120640" cy="384048"/>
          </a:xfrm>
          <a:prstGeom prst="rect">
            <a:avLst/>
          </a:prstGeom>
          <a:noFill/>
        </p:spPr>
        <p:txBody>
          <a:bodyPr wrap="none">
            <a:spAutoFit/>
          </a:bodyPr>
          <a:lstStyle/>
          <a:p>
            <a:r>
              <a:rPr sz="1500" b="0" i="0">
                <a:solidFill>
                  <a:srgbClr val="4A5568"/>
                </a:solidFill>
                <a:latin typeface="Calibri"/>
                <a:ea typeface="Calibri"/>
              </a:rPr>
              <a:t>HRBR, BTM, ITPL, Byrathi, NICE Road</a:t>
            </a:r>
          </a:p>
        </p:txBody>
      </p:sp>
      <p:sp>
        <p:nvSpPr>
          <p:cNvPr id="25" name="TextBox 24"/>
          <p:cNvSpPr txBox="1"/>
          <p:nvPr/>
        </p:nvSpPr>
        <p:spPr>
          <a:xfrm>
            <a:off x="9692640" y="4078224"/>
            <a:ext cx="1737360" cy="384048"/>
          </a:xfrm>
          <a:prstGeom prst="rect">
            <a:avLst/>
          </a:prstGeom>
          <a:noFill/>
        </p:spPr>
        <p:txBody>
          <a:bodyPr wrap="none">
            <a:spAutoFit/>
          </a:bodyPr>
          <a:lstStyle/>
          <a:p>
            <a:r>
              <a:rPr sz="1600" b="1" i="0">
                <a:solidFill>
                  <a:srgbClr val="1F7A6E"/>
                </a:solidFill>
                <a:latin typeface="Calibri"/>
                <a:ea typeface="Calibri"/>
              </a:rPr>
              <a:t>PU</a:t>
            </a:r>
          </a:p>
        </p:txBody>
      </p:sp>
      <p:sp>
        <p:nvSpPr>
          <p:cNvPr id="26" name="Rectangle 25"/>
          <p:cNvSpPr/>
          <p:nvPr/>
        </p:nvSpPr>
        <p:spPr>
          <a:xfrm>
            <a:off x="502920" y="4608576"/>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791456"/>
            <a:ext cx="3657600" cy="384048"/>
          </a:xfrm>
          <a:prstGeom prst="rect">
            <a:avLst/>
          </a:prstGeom>
          <a:noFill/>
        </p:spPr>
        <p:txBody>
          <a:bodyPr wrap="none">
            <a:spAutoFit/>
          </a:bodyPr>
          <a:lstStyle/>
          <a:p>
            <a:r>
              <a:rPr sz="1600" b="1" i="0">
                <a:solidFill>
                  <a:srgbClr val="0B1F3A"/>
                </a:solidFill>
                <a:latin typeface="Calibri"/>
                <a:ea typeface="Calibri"/>
              </a:rPr>
              <a:t>Ekya Vana Early Years</a:t>
            </a:r>
          </a:p>
        </p:txBody>
      </p:sp>
      <p:sp>
        <p:nvSpPr>
          <p:cNvPr id="28" name="TextBox 27"/>
          <p:cNvSpPr txBox="1"/>
          <p:nvPr/>
        </p:nvSpPr>
        <p:spPr>
          <a:xfrm>
            <a:off x="4389120" y="4791456"/>
            <a:ext cx="5120640" cy="384048"/>
          </a:xfrm>
          <a:prstGeom prst="rect">
            <a:avLst/>
          </a:prstGeom>
          <a:noFill/>
        </p:spPr>
        <p:txBody>
          <a:bodyPr wrap="none">
            <a:spAutoFit/>
          </a:bodyPr>
          <a:lstStyle/>
          <a:p>
            <a:r>
              <a:rPr sz="1500" b="0" i="0">
                <a:solidFill>
                  <a:srgbClr val="4A5568"/>
                </a:solidFill>
                <a:latin typeface="Calibri"/>
                <a:ea typeface="Calibri"/>
              </a:rPr>
              <a:t>Campus X, Y, Z (placeholders)</a:t>
            </a:r>
          </a:p>
        </p:txBody>
      </p:sp>
      <p:sp>
        <p:nvSpPr>
          <p:cNvPr id="29" name="TextBox 28"/>
          <p:cNvSpPr txBox="1"/>
          <p:nvPr/>
        </p:nvSpPr>
        <p:spPr>
          <a:xfrm>
            <a:off x="9692640" y="4791456"/>
            <a:ext cx="1737360" cy="384048"/>
          </a:xfrm>
          <a:prstGeom prst="rect">
            <a:avLst/>
          </a:prstGeom>
          <a:noFill/>
        </p:spPr>
        <p:txBody>
          <a:bodyPr wrap="none">
            <a:spAutoFit/>
          </a:bodyPr>
          <a:lstStyle/>
          <a:p>
            <a:r>
              <a:rPr sz="1600" b="1" i="0">
                <a:solidFill>
                  <a:srgbClr val="0B1F3A"/>
                </a:solidFill>
                <a:latin typeface="Calibri"/>
                <a:ea typeface="Calibri"/>
              </a:rPr>
              <a:t>K-12</a:t>
            </a:r>
          </a:p>
        </p:txBody>
      </p:sp>
      <p:sp>
        <p:nvSpPr>
          <p:cNvPr id="30" name="TextBox 2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0</a:t>
            </a:r>
          </a:p>
        </p:txBody>
      </p:sp>
      <p:sp>
        <p:nvSpPr>
          <p:cNvPr id="31" name="TextBox 30"/>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stay on Accounts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0  ·  SCREENSHOT FROM THE SOP</a:t>
            </a:r>
          </a:p>
        </p:txBody>
      </p:sp>
      <p:sp>
        <p:nvSpPr>
          <p:cNvPr id="5" name="TextBox 4"/>
          <p:cNvSpPr txBox="1"/>
          <p:nvPr/>
        </p:nvSpPr>
        <p:spPr>
          <a:xfrm>
            <a:off x="502920" y="438912"/>
            <a:ext cx="11155680" cy="640080"/>
          </a:xfrm>
          <a:prstGeom prst="rect">
            <a:avLst/>
          </a:prstGeom>
          <a:noFill/>
        </p:spPr>
        <p:txBody>
          <a:bodyPr wrap="square">
            <a:spAutoFit/>
          </a:bodyPr>
          <a:lstStyle/>
          <a:p>
            <a:r>
              <a:rPr sz="2800" b="1" i="0">
                <a:solidFill>
                  <a:srgbClr val="0B1F3A"/>
                </a:solidFill>
                <a:latin typeface="Calibri"/>
                <a:ea typeface="Calibri"/>
              </a:rPr>
              <a:t>Brands, campuses, and lead stages</a:t>
            </a:r>
          </a:p>
        </p:txBody>
      </p:sp>
      <p:sp>
        <p:nvSpPr>
          <p:cNvPr id="6" name="Rectangle 5"/>
          <p:cNvSpPr/>
          <p:nvPr/>
        </p:nvSpPr>
        <p:spPr>
          <a:xfrm>
            <a:off x="457200" y="1207008"/>
            <a:ext cx="11247120" cy="5120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05-sop-brands-campuses.jpg"/>
          <p:cNvPicPr>
            <a:picLocks noChangeAspect="1"/>
          </p:cNvPicPr>
          <p:nvPr/>
        </p:nvPicPr>
        <p:blipFill>
          <a:blip r:embed="rId2"/>
          <a:stretch>
            <a:fillRect/>
          </a:stretch>
        </p:blipFill>
        <p:spPr>
          <a:xfrm>
            <a:off x="3259183" y="1298448"/>
            <a:ext cx="5643154" cy="4937760"/>
          </a:xfrm>
          <a:prstGeom prst="rect">
            <a:avLst/>
          </a:prstGeom>
        </p:spPr>
      </p:pic>
      <p:sp>
        <p:nvSpPr>
          <p:cNvPr id="8" name="TextBox 7"/>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SOP screenshot</a:t>
            </a:r>
          </a:p>
        </p:txBody>
      </p:sp>
      <p:sp>
        <p:nvSpPr>
          <p:cNvPr id="9" name="TextBox 8"/>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stay on Accounts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THE PATH WE WILL WALK</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Ekya Lead Stage — not Admission Stage</a:t>
            </a:r>
          </a:p>
        </p:txBody>
      </p:sp>
      <p:sp>
        <p:nvSpPr>
          <p:cNvPr id="6" name="Rectangle 5"/>
          <p:cNvSpPr/>
          <p:nvPr/>
        </p:nvSpPr>
        <p:spPr>
          <a:xfrm>
            <a:off x="502920" y="1554480"/>
            <a:ext cx="1298448" cy="141732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57784" y="1810512"/>
            <a:ext cx="1188720" cy="1005840"/>
          </a:xfrm>
          <a:prstGeom prst="rect">
            <a:avLst/>
          </a:prstGeom>
          <a:noFill/>
        </p:spPr>
        <p:txBody>
          <a:bodyPr wrap="square">
            <a:spAutoFit/>
          </a:bodyPr>
          <a:lstStyle/>
          <a:p>
            <a:pPr algn="ctr"/>
            <a:r>
              <a:rPr sz="1300" b="1" i="0">
                <a:solidFill>
                  <a:srgbClr val="FFFFFF"/>
                </a:solidFill>
                <a:latin typeface="Calibri"/>
                <a:ea typeface="Calibri"/>
              </a:rPr>
              <a:t>Enquiry</a:t>
            </a:r>
          </a:p>
        </p:txBody>
      </p:sp>
      <p:sp>
        <p:nvSpPr>
          <p:cNvPr id="8" name="TextBox 7"/>
          <p:cNvSpPr txBox="1"/>
          <p:nvPr/>
        </p:nvSpPr>
        <p:spPr>
          <a:xfrm>
            <a:off x="1755648"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9" name="Rectangle 8"/>
          <p:cNvSpPr/>
          <p:nvPr/>
        </p:nvSpPr>
        <p:spPr>
          <a:xfrm>
            <a:off x="1911096"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65960" y="1810512"/>
            <a:ext cx="1188720" cy="1005840"/>
          </a:xfrm>
          <a:prstGeom prst="rect">
            <a:avLst/>
          </a:prstGeom>
          <a:noFill/>
        </p:spPr>
        <p:txBody>
          <a:bodyPr wrap="square">
            <a:spAutoFit/>
          </a:bodyPr>
          <a:lstStyle/>
          <a:p>
            <a:pPr algn="ctr"/>
            <a:r>
              <a:rPr sz="1300" b="1" i="0">
                <a:solidFill>
                  <a:srgbClr val="FFFFFF"/>
                </a:solidFill>
                <a:latin typeface="Calibri"/>
                <a:ea typeface="Calibri"/>
              </a:rPr>
              <a:t>App
Initiated</a:t>
            </a:r>
          </a:p>
        </p:txBody>
      </p:sp>
      <p:sp>
        <p:nvSpPr>
          <p:cNvPr id="11" name="TextBox 10"/>
          <p:cNvSpPr txBox="1"/>
          <p:nvPr/>
        </p:nvSpPr>
        <p:spPr>
          <a:xfrm>
            <a:off x="3163824"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12" name="Rectangle 11"/>
          <p:cNvSpPr/>
          <p:nvPr/>
        </p:nvSpPr>
        <p:spPr>
          <a:xfrm>
            <a:off x="3319272"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4136" y="1810512"/>
            <a:ext cx="1188720" cy="1005840"/>
          </a:xfrm>
          <a:prstGeom prst="rect">
            <a:avLst/>
          </a:prstGeom>
          <a:noFill/>
        </p:spPr>
        <p:txBody>
          <a:bodyPr wrap="square">
            <a:spAutoFit/>
          </a:bodyPr>
          <a:lstStyle/>
          <a:p>
            <a:pPr algn="ctr"/>
            <a:r>
              <a:rPr sz="1300" b="1" i="0">
                <a:solidFill>
                  <a:srgbClr val="FFFFFF"/>
                </a:solidFill>
                <a:latin typeface="Calibri"/>
                <a:ea typeface="Calibri"/>
              </a:rPr>
              <a:t>Visit
Scheduled</a:t>
            </a:r>
          </a:p>
        </p:txBody>
      </p:sp>
      <p:sp>
        <p:nvSpPr>
          <p:cNvPr id="14" name="TextBox 13"/>
          <p:cNvSpPr txBox="1"/>
          <p:nvPr/>
        </p:nvSpPr>
        <p:spPr>
          <a:xfrm>
            <a:off x="4572000"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15" name="Rectangle 14"/>
          <p:cNvSpPr/>
          <p:nvPr/>
        </p:nvSpPr>
        <p:spPr>
          <a:xfrm>
            <a:off x="4727448"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82312" y="1810512"/>
            <a:ext cx="1188720" cy="1005840"/>
          </a:xfrm>
          <a:prstGeom prst="rect">
            <a:avLst/>
          </a:prstGeom>
          <a:noFill/>
        </p:spPr>
        <p:txBody>
          <a:bodyPr wrap="square">
            <a:spAutoFit/>
          </a:bodyPr>
          <a:lstStyle/>
          <a:p>
            <a:pPr algn="ctr"/>
            <a:r>
              <a:rPr sz="1300" b="1" i="0">
                <a:solidFill>
                  <a:srgbClr val="FFFFFF"/>
                </a:solidFill>
                <a:latin typeface="Calibri"/>
                <a:ea typeface="Calibri"/>
              </a:rPr>
              <a:t>Visit
Missed</a:t>
            </a:r>
          </a:p>
        </p:txBody>
      </p:sp>
      <p:sp>
        <p:nvSpPr>
          <p:cNvPr id="17" name="TextBox 16"/>
          <p:cNvSpPr txBox="1"/>
          <p:nvPr/>
        </p:nvSpPr>
        <p:spPr>
          <a:xfrm>
            <a:off x="5980176"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18" name="Rectangle 17"/>
          <p:cNvSpPr/>
          <p:nvPr/>
        </p:nvSpPr>
        <p:spPr>
          <a:xfrm>
            <a:off x="6135624"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0488" y="1810512"/>
            <a:ext cx="1188720" cy="1005840"/>
          </a:xfrm>
          <a:prstGeom prst="rect">
            <a:avLst/>
          </a:prstGeom>
          <a:noFill/>
        </p:spPr>
        <p:txBody>
          <a:bodyPr wrap="square">
            <a:spAutoFit/>
          </a:bodyPr>
          <a:lstStyle/>
          <a:p>
            <a:pPr algn="ctr"/>
            <a:r>
              <a:rPr sz="1300" b="1" i="0">
                <a:solidFill>
                  <a:srgbClr val="FFFFFF"/>
                </a:solidFill>
                <a:latin typeface="Calibri"/>
                <a:ea typeface="Calibri"/>
              </a:rPr>
              <a:t>App
Submitted</a:t>
            </a:r>
          </a:p>
        </p:txBody>
      </p:sp>
      <p:sp>
        <p:nvSpPr>
          <p:cNvPr id="20" name="TextBox 19"/>
          <p:cNvSpPr txBox="1"/>
          <p:nvPr/>
        </p:nvSpPr>
        <p:spPr>
          <a:xfrm>
            <a:off x="7388352"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21" name="Rectangle 20"/>
          <p:cNvSpPr/>
          <p:nvPr/>
        </p:nvSpPr>
        <p:spPr>
          <a:xfrm>
            <a:off x="7543800"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98664" y="1810512"/>
            <a:ext cx="1188720" cy="1005840"/>
          </a:xfrm>
          <a:prstGeom prst="rect">
            <a:avLst/>
          </a:prstGeom>
          <a:noFill/>
        </p:spPr>
        <p:txBody>
          <a:bodyPr wrap="square">
            <a:spAutoFit/>
          </a:bodyPr>
          <a:lstStyle/>
          <a:p>
            <a:pPr algn="ctr"/>
            <a:r>
              <a:rPr sz="1300" b="1" i="0">
                <a:solidFill>
                  <a:srgbClr val="FFFFFF"/>
                </a:solidFill>
                <a:latin typeface="Calibri"/>
                <a:ea typeface="Calibri"/>
              </a:rPr>
              <a:t>HOS
Review</a:t>
            </a:r>
          </a:p>
        </p:txBody>
      </p:sp>
      <p:sp>
        <p:nvSpPr>
          <p:cNvPr id="23" name="TextBox 22"/>
          <p:cNvSpPr txBox="1"/>
          <p:nvPr/>
        </p:nvSpPr>
        <p:spPr>
          <a:xfrm>
            <a:off x="8796528"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24" name="Rectangle 23"/>
          <p:cNvSpPr/>
          <p:nvPr/>
        </p:nvSpPr>
        <p:spPr>
          <a:xfrm>
            <a:off x="8951976" y="1554480"/>
            <a:ext cx="1298448" cy="141732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1810512"/>
            <a:ext cx="1188720" cy="1005840"/>
          </a:xfrm>
          <a:prstGeom prst="rect">
            <a:avLst/>
          </a:prstGeom>
          <a:noFill/>
        </p:spPr>
        <p:txBody>
          <a:bodyPr wrap="square">
            <a:spAutoFit/>
          </a:bodyPr>
          <a:lstStyle/>
          <a:p>
            <a:pPr algn="ctr"/>
            <a:r>
              <a:rPr sz="1300" b="1" i="0">
                <a:solidFill>
                  <a:srgbClr val="FFFFFF"/>
                </a:solidFill>
                <a:latin typeface="Calibri"/>
                <a:ea typeface="Calibri"/>
              </a:rPr>
              <a:t>Founder
Review</a:t>
            </a:r>
          </a:p>
        </p:txBody>
      </p:sp>
      <p:sp>
        <p:nvSpPr>
          <p:cNvPr id="26" name="TextBox 25"/>
          <p:cNvSpPr txBox="1"/>
          <p:nvPr/>
        </p:nvSpPr>
        <p:spPr>
          <a:xfrm>
            <a:off x="10204704" y="2057400"/>
            <a:ext cx="201168" cy="320040"/>
          </a:xfrm>
          <a:prstGeom prst="rect">
            <a:avLst/>
          </a:prstGeom>
          <a:noFill/>
        </p:spPr>
        <p:txBody>
          <a:bodyPr wrap="none">
            <a:spAutoFit/>
          </a:bodyPr>
          <a:lstStyle/>
          <a:p>
            <a:r>
              <a:rPr sz="1800" b="1" i="0">
                <a:solidFill>
                  <a:srgbClr val="C48A2B"/>
                </a:solidFill>
                <a:latin typeface="Calibri"/>
                <a:ea typeface="Calibri"/>
              </a:rPr>
              <a:t>›</a:t>
            </a:r>
          </a:p>
        </p:txBody>
      </p:sp>
      <p:sp>
        <p:nvSpPr>
          <p:cNvPr id="27" name="Rectangle 26"/>
          <p:cNvSpPr/>
          <p:nvPr/>
        </p:nvSpPr>
        <p:spPr>
          <a:xfrm>
            <a:off x="10360152" y="1554480"/>
            <a:ext cx="1298448" cy="141732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15016" y="1810512"/>
            <a:ext cx="1188720" cy="1005840"/>
          </a:xfrm>
          <a:prstGeom prst="rect">
            <a:avLst/>
          </a:prstGeom>
          <a:noFill/>
        </p:spPr>
        <p:txBody>
          <a:bodyPr wrap="square">
            <a:spAutoFit/>
          </a:bodyPr>
          <a:lstStyle/>
          <a:p>
            <a:pPr algn="ctr"/>
            <a:r>
              <a:rPr sz="1300" b="1" i="0">
                <a:solidFill>
                  <a:srgbClr val="FFFFFF"/>
                </a:solidFill>
                <a:latin typeface="Calibri"/>
                <a:ea typeface="Calibri"/>
              </a:rPr>
              <a:t>Accepted
/ Waitlist</a:t>
            </a:r>
          </a:p>
        </p:txBody>
      </p:sp>
      <p:sp>
        <p:nvSpPr>
          <p:cNvPr id="29" name="TextBox 28"/>
          <p:cNvSpPr txBox="1"/>
          <p:nvPr/>
        </p:nvSpPr>
        <p:spPr>
          <a:xfrm>
            <a:off x="502920" y="3291840"/>
            <a:ext cx="11155680" cy="2377440"/>
          </a:xfrm>
          <a:prstGeom prst="rect">
            <a:avLst/>
          </a:prstGeom>
          <a:noFill/>
        </p:spPr>
        <p:txBody>
          <a:bodyPr wrap="square">
            <a:spAutoFit/>
          </a:bodyPr>
          <a:lstStyle/>
          <a:p>
            <a:pPr>
              <a:spcAft>
                <a:spcPts val="1000"/>
              </a:spcAft>
              <a:buFont typeface="Calibri"/>
              <a:buChar char="•"/>
            </a:pPr>
            <a:r>
              <a:rPr sz="1800" b="0" i="0">
                <a:solidFill>
                  <a:srgbClr val="1B2433"/>
                </a:solidFill>
                <a:latin typeface="Calibri"/>
                <a:ea typeface="Calibri"/>
              </a:rPr>
              <a:t>Review and Readiness Session also exist on the picklist. We will not linger there today.</a:t>
            </a:r>
          </a:p>
          <a:p>
            <a:pPr>
              <a:spcAft>
                <a:spcPts val="1000"/>
              </a:spcAft>
              <a:buFont typeface="Calibri"/>
              <a:buChar char="•"/>
            </a:pPr>
            <a:r>
              <a:rPr sz="1800" b="0" i="0">
                <a:solidFill>
                  <a:srgbClr val="1B2433"/>
                </a:solidFill>
                <a:latin typeface="Calibri"/>
                <a:ea typeface="Calibri"/>
              </a:rPr>
              <a:t>Disqualified and Junk are outcomes, same as Accept and Waitlist.</a:t>
            </a:r>
          </a:p>
          <a:p>
            <a:pPr>
              <a:spcAft>
                <a:spcPts val="1000"/>
              </a:spcAft>
              <a:buFont typeface="Calibri"/>
              <a:buChar char="•"/>
            </a:pPr>
            <a:r>
              <a:rPr sz="1800" b="0" i="0">
                <a:solidFill>
                  <a:srgbClr val="1B2433"/>
                </a:solidFill>
                <a:latin typeface="Calibri"/>
                <a:ea typeface="Calibri"/>
              </a:rPr>
              <a:t>Each live record you open is already sitting on one of these stages.</a:t>
            </a:r>
          </a:p>
        </p:txBody>
      </p:sp>
      <p:sp>
        <p:nvSpPr>
          <p:cNvPr id="30" name="TextBox 2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Journey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1  ·  1:30–4:00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One mobile number. Two campuses.</a:t>
            </a:r>
          </a:p>
        </p:txBody>
      </p:sp>
      <p:sp>
        <p:nvSpPr>
          <p:cNvPr id="6" name="Rectangle 5"/>
          <p:cNvSpPr/>
          <p:nvPr/>
        </p:nvSpPr>
        <p:spPr>
          <a:xfrm>
            <a:off x="502920" y="1417320"/>
            <a:ext cx="5440680" cy="3246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17320"/>
            <a:ext cx="5440680" cy="324612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4846320" cy="365760"/>
          </a:xfrm>
          <a:prstGeom prst="rect">
            <a:avLst/>
          </a:prstGeom>
          <a:noFill/>
        </p:spPr>
        <p:txBody>
          <a:bodyPr wrap="none">
            <a:spAutoFit/>
          </a:bodyPr>
          <a:lstStyle/>
          <a:p>
            <a:r>
              <a:rPr sz="1400" b="1" i="0">
                <a:solidFill>
                  <a:srgbClr val="C4292E"/>
                </a:solidFill>
                <a:latin typeface="Calibri"/>
                <a:ea typeface="Calibri"/>
              </a:rPr>
              <a:t>Lead 1</a:t>
            </a:r>
          </a:p>
        </p:txBody>
      </p:sp>
      <p:sp>
        <p:nvSpPr>
          <p:cNvPr id="9" name="TextBox 8"/>
          <p:cNvSpPr txBox="1"/>
          <p:nvPr/>
        </p:nvSpPr>
        <p:spPr>
          <a:xfrm>
            <a:off x="777240" y="1965960"/>
            <a:ext cx="1645920" cy="365760"/>
          </a:xfrm>
          <a:prstGeom prst="rect">
            <a:avLst/>
          </a:prstGeom>
          <a:noFill/>
        </p:spPr>
        <p:txBody>
          <a:bodyPr wrap="none">
            <a:spAutoFit/>
          </a:bodyPr>
          <a:lstStyle/>
          <a:p>
            <a:r>
              <a:rPr sz="1400" b="0" i="0">
                <a:solidFill>
                  <a:srgbClr val="6B7688"/>
                </a:solidFill>
                <a:latin typeface="Calibri"/>
                <a:ea typeface="Calibri"/>
              </a:rPr>
              <a:t>Parent / student</a:t>
            </a:r>
          </a:p>
        </p:txBody>
      </p:sp>
      <p:sp>
        <p:nvSpPr>
          <p:cNvPr id="10" name="TextBox 9"/>
          <p:cNvSpPr txBox="1"/>
          <p:nvPr/>
        </p:nvSpPr>
        <p:spPr>
          <a:xfrm>
            <a:off x="2423160" y="1965960"/>
            <a:ext cx="3200400" cy="365760"/>
          </a:xfrm>
          <a:prstGeom prst="rect">
            <a:avLst/>
          </a:prstGeom>
          <a:noFill/>
        </p:spPr>
        <p:txBody>
          <a:bodyPr wrap="none">
            <a:spAutoFit/>
          </a:bodyPr>
          <a:lstStyle/>
          <a:p>
            <a:r>
              <a:rPr sz="1600" b="1" i="0">
                <a:solidFill>
                  <a:srgbClr val="0B1F3A"/>
                </a:solidFill>
                <a:latin typeface="Calibri"/>
                <a:ea typeface="Calibri"/>
              </a:rPr>
              <a:t>Anita Sharma / Aarav Sharma</a:t>
            </a:r>
          </a:p>
        </p:txBody>
      </p:sp>
      <p:sp>
        <p:nvSpPr>
          <p:cNvPr id="11" name="TextBox 10"/>
          <p:cNvSpPr txBox="1"/>
          <p:nvPr/>
        </p:nvSpPr>
        <p:spPr>
          <a:xfrm>
            <a:off x="777240" y="2441448"/>
            <a:ext cx="1645920" cy="365760"/>
          </a:xfrm>
          <a:prstGeom prst="rect">
            <a:avLst/>
          </a:prstGeom>
          <a:noFill/>
        </p:spPr>
        <p:txBody>
          <a:bodyPr wrap="none">
            <a:spAutoFit/>
          </a:bodyPr>
          <a:lstStyle/>
          <a:p>
            <a:r>
              <a:rPr sz="1400" b="0" i="0">
                <a:solidFill>
                  <a:srgbClr val="6B7688"/>
                </a:solidFill>
                <a:latin typeface="Calibri"/>
                <a:ea typeface="Calibri"/>
              </a:rPr>
              <a:t>Campus</a:t>
            </a:r>
          </a:p>
        </p:txBody>
      </p:sp>
      <p:sp>
        <p:nvSpPr>
          <p:cNvPr id="12" name="TextBox 11"/>
          <p:cNvSpPr txBox="1"/>
          <p:nvPr/>
        </p:nvSpPr>
        <p:spPr>
          <a:xfrm>
            <a:off x="2423160" y="2441448"/>
            <a:ext cx="3200400" cy="365760"/>
          </a:xfrm>
          <a:prstGeom prst="rect">
            <a:avLst/>
          </a:prstGeom>
          <a:noFill/>
        </p:spPr>
        <p:txBody>
          <a:bodyPr wrap="none">
            <a:spAutoFit/>
          </a:bodyPr>
          <a:lstStyle/>
          <a:p>
            <a:r>
              <a:rPr sz="1600" b="1" i="0">
                <a:solidFill>
                  <a:srgbClr val="0B1F3A"/>
                </a:solidFill>
                <a:latin typeface="Calibri"/>
                <a:ea typeface="Calibri"/>
              </a:rPr>
              <a:t>Ekya JP Nagar</a:t>
            </a:r>
          </a:p>
        </p:txBody>
      </p:sp>
      <p:sp>
        <p:nvSpPr>
          <p:cNvPr id="13" name="TextBox 12"/>
          <p:cNvSpPr txBox="1"/>
          <p:nvPr/>
        </p:nvSpPr>
        <p:spPr>
          <a:xfrm>
            <a:off x="777240" y="2916936"/>
            <a:ext cx="1645920" cy="365760"/>
          </a:xfrm>
          <a:prstGeom prst="rect">
            <a:avLst/>
          </a:prstGeom>
          <a:noFill/>
        </p:spPr>
        <p:txBody>
          <a:bodyPr wrap="none">
            <a:spAutoFit/>
          </a:bodyPr>
          <a:lstStyle/>
          <a:p>
            <a:r>
              <a:rPr sz="1400" b="0" i="0">
                <a:solidFill>
                  <a:srgbClr val="6B7688"/>
                </a:solidFill>
                <a:latin typeface="Calibri"/>
                <a:ea typeface="Calibri"/>
              </a:rPr>
              <a:t>Stage</a:t>
            </a:r>
          </a:p>
        </p:txBody>
      </p:sp>
      <p:sp>
        <p:nvSpPr>
          <p:cNvPr id="14" name="TextBox 13"/>
          <p:cNvSpPr txBox="1"/>
          <p:nvPr/>
        </p:nvSpPr>
        <p:spPr>
          <a:xfrm>
            <a:off x="2423160" y="2916936"/>
            <a:ext cx="3200400" cy="365760"/>
          </a:xfrm>
          <a:prstGeom prst="rect">
            <a:avLst/>
          </a:prstGeom>
          <a:noFill/>
        </p:spPr>
        <p:txBody>
          <a:bodyPr wrap="none">
            <a:spAutoFit/>
          </a:bodyPr>
          <a:lstStyle/>
          <a:p>
            <a:r>
              <a:rPr sz="1600" b="1" i="0">
                <a:solidFill>
                  <a:srgbClr val="0B1F3A"/>
                </a:solidFill>
                <a:latin typeface="Calibri"/>
                <a:ea typeface="Calibri"/>
              </a:rPr>
              <a:t>Enquiry</a:t>
            </a:r>
          </a:p>
        </p:txBody>
      </p:sp>
      <p:sp>
        <p:nvSpPr>
          <p:cNvPr id="15" name="TextBox 14"/>
          <p:cNvSpPr txBox="1"/>
          <p:nvPr/>
        </p:nvSpPr>
        <p:spPr>
          <a:xfrm>
            <a:off x="777240" y="3392424"/>
            <a:ext cx="1645920" cy="365760"/>
          </a:xfrm>
          <a:prstGeom prst="rect">
            <a:avLst/>
          </a:prstGeom>
          <a:noFill/>
        </p:spPr>
        <p:txBody>
          <a:bodyPr wrap="none">
            <a:spAutoFit/>
          </a:bodyPr>
          <a:lstStyle/>
          <a:p>
            <a:r>
              <a:rPr sz="1400" b="0" i="0">
                <a:solidFill>
                  <a:srgbClr val="6B7688"/>
                </a:solidFill>
                <a:latin typeface="Calibri"/>
                <a:ea typeface="Calibri"/>
              </a:rPr>
              <a:t>Form</a:t>
            </a:r>
          </a:p>
        </p:txBody>
      </p:sp>
      <p:sp>
        <p:nvSpPr>
          <p:cNvPr id="16" name="TextBox 15"/>
          <p:cNvSpPr txBox="1"/>
          <p:nvPr/>
        </p:nvSpPr>
        <p:spPr>
          <a:xfrm>
            <a:off x="2423160" y="3392424"/>
            <a:ext cx="3200400" cy="365760"/>
          </a:xfrm>
          <a:prstGeom prst="rect">
            <a:avLst/>
          </a:prstGeom>
          <a:noFill/>
        </p:spPr>
        <p:txBody>
          <a:bodyPr wrap="none">
            <a:spAutoFit/>
          </a:bodyPr>
          <a:lstStyle/>
          <a:p>
            <a:r>
              <a:rPr sz="1600" b="1" i="0">
                <a:solidFill>
                  <a:srgbClr val="0B1F3A"/>
                </a:solidFill>
                <a:latin typeface="Calibri"/>
                <a:ea typeface="Calibri"/>
              </a:rPr>
              <a:t>Not started</a:t>
            </a:r>
          </a:p>
        </p:txBody>
      </p:sp>
      <p:sp>
        <p:nvSpPr>
          <p:cNvPr id="17" name="TextBox 16"/>
          <p:cNvSpPr txBox="1"/>
          <p:nvPr/>
        </p:nvSpPr>
        <p:spPr>
          <a:xfrm>
            <a:off x="777240" y="3867912"/>
            <a:ext cx="1645920" cy="365760"/>
          </a:xfrm>
          <a:prstGeom prst="rect">
            <a:avLst/>
          </a:prstGeom>
          <a:noFill/>
        </p:spPr>
        <p:txBody>
          <a:bodyPr wrap="none">
            <a:spAutoFit/>
          </a:bodyPr>
          <a:lstStyle/>
          <a:p>
            <a:r>
              <a:rPr sz="1400" b="0" i="0">
                <a:solidFill>
                  <a:srgbClr val="6B7688"/>
                </a:solidFill>
                <a:latin typeface="Calibri"/>
                <a:ea typeface="Calibri"/>
              </a:rPr>
              <a:t>Search</a:t>
            </a:r>
          </a:p>
        </p:txBody>
      </p:sp>
      <p:sp>
        <p:nvSpPr>
          <p:cNvPr id="18" name="TextBox 17"/>
          <p:cNvSpPr txBox="1"/>
          <p:nvPr/>
        </p:nvSpPr>
        <p:spPr>
          <a:xfrm>
            <a:off x="2423160" y="3867912"/>
            <a:ext cx="3200400" cy="365760"/>
          </a:xfrm>
          <a:prstGeom prst="rect">
            <a:avLst/>
          </a:prstGeom>
          <a:noFill/>
        </p:spPr>
        <p:txBody>
          <a:bodyPr wrap="none">
            <a:spAutoFit/>
          </a:bodyPr>
          <a:lstStyle/>
          <a:p>
            <a:r>
              <a:rPr sz="1600" b="1" i="0">
                <a:solidFill>
                  <a:srgbClr val="0B1F3A"/>
                </a:solidFill>
                <a:latin typeface="Calibri"/>
                <a:ea typeface="Calibri"/>
              </a:rPr>
              <a:t>9876543210</a:t>
            </a:r>
          </a:p>
        </p:txBody>
      </p:sp>
      <p:sp>
        <p:nvSpPr>
          <p:cNvPr id="19" name="TextBox 18"/>
          <p:cNvSpPr txBox="1"/>
          <p:nvPr/>
        </p:nvSpPr>
        <p:spPr>
          <a:xfrm>
            <a:off x="6492240" y="1554480"/>
            <a:ext cx="4846320" cy="365760"/>
          </a:xfrm>
          <a:prstGeom prst="rect">
            <a:avLst/>
          </a:prstGeom>
          <a:noFill/>
        </p:spPr>
        <p:txBody>
          <a:bodyPr wrap="none">
            <a:spAutoFit/>
          </a:bodyPr>
          <a:lstStyle/>
          <a:p>
            <a:r>
              <a:rPr sz="1400" b="1" i="0">
                <a:solidFill>
                  <a:srgbClr val="C4292E"/>
                </a:solidFill>
                <a:latin typeface="Calibri"/>
                <a:ea typeface="Calibri"/>
              </a:rPr>
              <a:t>Lead 2</a:t>
            </a:r>
          </a:p>
        </p:txBody>
      </p:sp>
      <p:sp>
        <p:nvSpPr>
          <p:cNvPr id="20" name="TextBox 19"/>
          <p:cNvSpPr txBox="1"/>
          <p:nvPr/>
        </p:nvSpPr>
        <p:spPr>
          <a:xfrm>
            <a:off x="6492240" y="1965960"/>
            <a:ext cx="1645920" cy="365760"/>
          </a:xfrm>
          <a:prstGeom prst="rect">
            <a:avLst/>
          </a:prstGeom>
          <a:noFill/>
        </p:spPr>
        <p:txBody>
          <a:bodyPr wrap="none">
            <a:spAutoFit/>
          </a:bodyPr>
          <a:lstStyle/>
          <a:p>
            <a:r>
              <a:rPr sz="1400" b="0" i="0">
                <a:solidFill>
                  <a:srgbClr val="6B7688"/>
                </a:solidFill>
                <a:latin typeface="Calibri"/>
                <a:ea typeface="Calibri"/>
              </a:rPr>
              <a:t>Parent / student</a:t>
            </a:r>
          </a:p>
        </p:txBody>
      </p:sp>
      <p:sp>
        <p:nvSpPr>
          <p:cNvPr id="21" name="TextBox 20"/>
          <p:cNvSpPr txBox="1"/>
          <p:nvPr/>
        </p:nvSpPr>
        <p:spPr>
          <a:xfrm>
            <a:off x="8138160" y="1965960"/>
            <a:ext cx="3200400" cy="365760"/>
          </a:xfrm>
          <a:prstGeom prst="rect">
            <a:avLst/>
          </a:prstGeom>
          <a:noFill/>
        </p:spPr>
        <p:txBody>
          <a:bodyPr wrap="none">
            <a:spAutoFit/>
          </a:bodyPr>
          <a:lstStyle/>
          <a:p>
            <a:r>
              <a:rPr sz="1600" b="1" i="0">
                <a:solidFill>
                  <a:srgbClr val="0B1F3A"/>
                </a:solidFill>
                <a:latin typeface="Calibri"/>
                <a:ea typeface="Calibri"/>
              </a:rPr>
              <a:t>Anita Sharma / Diya Sharma</a:t>
            </a:r>
          </a:p>
        </p:txBody>
      </p:sp>
      <p:sp>
        <p:nvSpPr>
          <p:cNvPr id="22" name="TextBox 21"/>
          <p:cNvSpPr txBox="1"/>
          <p:nvPr/>
        </p:nvSpPr>
        <p:spPr>
          <a:xfrm>
            <a:off x="6492240" y="2441448"/>
            <a:ext cx="1645920" cy="365760"/>
          </a:xfrm>
          <a:prstGeom prst="rect">
            <a:avLst/>
          </a:prstGeom>
          <a:noFill/>
        </p:spPr>
        <p:txBody>
          <a:bodyPr wrap="none">
            <a:spAutoFit/>
          </a:bodyPr>
          <a:lstStyle/>
          <a:p>
            <a:r>
              <a:rPr sz="1400" b="0" i="0">
                <a:solidFill>
                  <a:srgbClr val="6B7688"/>
                </a:solidFill>
                <a:latin typeface="Calibri"/>
                <a:ea typeface="Calibri"/>
              </a:rPr>
              <a:t>Campus</a:t>
            </a:r>
          </a:p>
        </p:txBody>
      </p:sp>
      <p:sp>
        <p:nvSpPr>
          <p:cNvPr id="23" name="TextBox 22"/>
          <p:cNvSpPr txBox="1"/>
          <p:nvPr/>
        </p:nvSpPr>
        <p:spPr>
          <a:xfrm>
            <a:off x="8138160" y="2441448"/>
            <a:ext cx="3200400" cy="365760"/>
          </a:xfrm>
          <a:prstGeom prst="rect">
            <a:avLst/>
          </a:prstGeom>
          <a:noFill/>
        </p:spPr>
        <p:txBody>
          <a:bodyPr wrap="none">
            <a:spAutoFit/>
          </a:bodyPr>
          <a:lstStyle/>
          <a:p>
            <a:r>
              <a:rPr sz="1600" b="1" i="0">
                <a:solidFill>
                  <a:srgbClr val="0B1F3A"/>
                </a:solidFill>
                <a:latin typeface="Calibri"/>
                <a:ea typeface="Calibri"/>
              </a:rPr>
              <a:t>Ekya BTM Layout</a:t>
            </a:r>
          </a:p>
        </p:txBody>
      </p:sp>
      <p:sp>
        <p:nvSpPr>
          <p:cNvPr id="24" name="TextBox 23"/>
          <p:cNvSpPr txBox="1"/>
          <p:nvPr/>
        </p:nvSpPr>
        <p:spPr>
          <a:xfrm>
            <a:off x="6492240" y="2916936"/>
            <a:ext cx="1645920" cy="365760"/>
          </a:xfrm>
          <a:prstGeom prst="rect">
            <a:avLst/>
          </a:prstGeom>
          <a:noFill/>
        </p:spPr>
        <p:txBody>
          <a:bodyPr wrap="none">
            <a:spAutoFit/>
          </a:bodyPr>
          <a:lstStyle/>
          <a:p>
            <a:r>
              <a:rPr sz="1400" b="0" i="0">
                <a:solidFill>
                  <a:srgbClr val="6B7688"/>
                </a:solidFill>
                <a:latin typeface="Calibri"/>
                <a:ea typeface="Calibri"/>
              </a:rPr>
              <a:t>Stage</a:t>
            </a:r>
          </a:p>
        </p:txBody>
      </p:sp>
      <p:sp>
        <p:nvSpPr>
          <p:cNvPr id="25" name="TextBox 24"/>
          <p:cNvSpPr txBox="1"/>
          <p:nvPr/>
        </p:nvSpPr>
        <p:spPr>
          <a:xfrm>
            <a:off x="8138160" y="2916936"/>
            <a:ext cx="3200400" cy="365760"/>
          </a:xfrm>
          <a:prstGeom prst="rect">
            <a:avLst/>
          </a:prstGeom>
          <a:noFill/>
        </p:spPr>
        <p:txBody>
          <a:bodyPr wrap="none">
            <a:spAutoFit/>
          </a:bodyPr>
          <a:lstStyle/>
          <a:p>
            <a:r>
              <a:rPr sz="1600" b="1" i="0">
                <a:solidFill>
                  <a:srgbClr val="0B1F3A"/>
                </a:solidFill>
                <a:latin typeface="Calibri"/>
                <a:ea typeface="Calibri"/>
              </a:rPr>
              <a:t>App Initiated</a:t>
            </a:r>
          </a:p>
        </p:txBody>
      </p:sp>
      <p:sp>
        <p:nvSpPr>
          <p:cNvPr id="26" name="TextBox 25"/>
          <p:cNvSpPr txBox="1"/>
          <p:nvPr/>
        </p:nvSpPr>
        <p:spPr>
          <a:xfrm>
            <a:off x="6492240" y="3392424"/>
            <a:ext cx="1645920" cy="365760"/>
          </a:xfrm>
          <a:prstGeom prst="rect">
            <a:avLst/>
          </a:prstGeom>
          <a:noFill/>
        </p:spPr>
        <p:txBody>
          <a:bodyPr wrap="none">
            <a:spAutoFit/>
          </a:bodyPr>
          <a:lstStyle/>
          <a:p>
            <a:r>
              <a:rPr sz="1400" b="0" i="0">
                <a:solidFill>
                  <a:srgbClr val="6B7688"/>
                </a:solidFill>
                <a:latin typeface="Calibri"/>
                <a:ea typeface="Calibri"/>
              </a:rPr>
              <a:t>Form</a:t>
            </a:r>
          </a:p>
        </p:txBody>
      </p:sp>
      <p:sp>
        <p:nvSpPr>
          <p:cNvPr id="27" name="TextBox 26"/>
          <p:cNvSpPr txBox="1"/>
          <p:nvPr/>
        </p:nvSpPr>
        <p:spPr>
          <a:xfrm>
            <a:off x="8138160" y="3392424"/>
            <a:ext cx="3200400" cy="365760"/>
          </a:xfrm>
          <a:prstGeom prst="rect">
            <a:avLst/>
          </a:prstGeom>
          <a:noFill/>
        </p:spPr>
        <p:txBody>
          <a:bodyPr wrap="none">
            <a:spAutoFit/>
          </a:bodyPr>
          <a:lstStyle/>
          <a:p>
            <a:r>
              <a:rPr sz="1600" b="1" i="0">
                <a:solidFill>
                  <a:srgbClr val="0B1F3A"/>
                </a:solidFill>
                <a:latin typeface="Calibri"/>
                <a:ea typeface="Calibri"/>
              </a:rPr>
              <a:t>Started</a:t>
            </a:r>
          </a:p>
        </p:txBody>
      </p:sp>
      <p:sp>
        <p:nvSpPr>
          <p:cNvPr id="28" name="TextBox 27"/>
          <p:cNvSpPr txBox="1"/>
          <p:nvPr/>
        </p:nvSpPr>
        <p:spPr>
          <a:xfrm>
            <a:off x="6492240" y="3867912"/>
            <a:ext cx="1645920" cy="365760"/>
          </a:xfrm>
          <a:prstGeom prst="rect">
            <a:avLst/>
          </a:prstGeom>
          <a:noFill/>
        </p:spPr>
        <p:txBody>
          <a:bodyPr wrap="none">
            <a:spAutoFit/>
          </a:bodyPr>
          <a:lstStyle/>
          <a:p>
            <a:r>
              <a:rPr sz="1400" b="0" i="0">
                <a:solidFill>
                  <a:srgbClr val="6B7688"/>
                </a:solidFill>
                <a:latin typeface="Calibri"/>
                <a:ea typeface="Calibri"/>
              </a:rPr>
              <a:t>Search</a:t>
            </a:r>
          </a:p>
        </p:txBody>
      </p:sp>
      <p:sp>
        <p:nvSpPr>
          <p:cNvPr id="29" name="TextBox 28"/>
          <p:cNvSpPr txBox="1"/>
          <p:nvPr/>
        </p:nvSpPr>
        <p:spPr>
          <a:xfrm>
            <a:off x="8138160" y="3867912"/>
            <a:ext cx="3200400" cy="365760"/>
          </a:xfrm>
          <a:prstGeom prst="rect">
            <a:avLst/>
          </a:prstGeom>
          <a:noFill/>
        </p:spPr>
        <p:txBody>
          <a:bodyPr wrap="none">
            <a:spAutoFit/>
          </a:bodyPr>
          <a:lstStyle/>
          <a:p>
            <a:r>
              <a:rPr sz="1600" b="1" i="0">
                <a:solidFill>
                  <a:srgbClr val="0B1F3A"/>
                </a:solidFill>
                <a:latin typeface="Calibri"/>
                <a:ea typeface="Calibri"/>
              </a:rPr>
              <a:t>same number</a:t>
            </a:r>
          </a:p>
        </p:txBody>
      </p:sp>
      <p:sp>
        <p:nvSpPr>
          <p:cNvPr id="30" name="TextBox 29"/>
          <p:cNvSpPr txBox="1"/>
          <p:nvPr/>
        </p:nvSpPr>
        <p:spPr>
          <a:xfrm>
            <a:off x="502920" y="4846320"/>
            <a:ext cx="11155680" cy="1280160"/>
          </a:xfrm>
          <a:prstGeom prst="rect">
            <a:avLst/>
          </a:prstGeom>
          <a:noFill/>
        </p:spPr>
        <p:txBody>
          <a:bodyPr wrap="square">
            <a:spAutoFit/>
          </a:bodyPr>
          <a:lstStyle/>
          <a:p>
            <a:r>
              <a:rPr sz="1800" b="0" i="0">
                <a:solidFill>
                  <a:srgbClr val="4A5568"/>
                </a:solidFill>
                <a:latin typeface="Calibri"/>
                <a:ea typeface="Calibri"/>
              </a:rPr>
              <a:t>If you unique-lock mobile, this family breaks. Each campus keeps its own nurture path.</a:t>
            </a:r>
          </a:p>
        </p:txBody>
      </p:sp>
      <p:sp>
        <p:nvSpPr>
          <p:cNvPr id="31" name="TextBox 30"/>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1</a:t>
            </a:r>
          </a:p>
        </p:txBody>
      </p:sp>
      <p:sp>
        <p:nvSpPr>
          <p:cNvPr id="32" name="TextBox 31"/>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Leads · 9876543210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2  ·  4:00–6:00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Sibling and intercampus are flags, not duplicates.</a:t>
            </a:r>
          </a:p>
        </p:txBody>
      </p:sp>
      <p:sp>
        <p:nvSpPr>
          <p:cNvPr id="6" name="Rectangle 5"/>
          <p:cNvSpPr/>
          <p:nvPr/>
        </p:nvSpPr>
        <p:spPr>
          <a:xfrm>
            <a:off x="502920" y="1417320"/>
            <a:ext cx="5440680" cy="4023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17320"/>
            <a:ext cx="5440680" cy="4023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4937760" cy="365760"/>
          </a:xfrm>
          <a:prstGeom prst="rect">
            <a:avLst/>
          </a:prstGeom>
          <a:noFill/>
        </p:spPr>
        <p:txBody>
          <a:bodyPr wrap="none">
            <a:spAutoFit/>
          </a:bodyPr>
          <a:lstStyle/>
          <a:p>
            <a:r>
              <a:rPr sz="1300" b="1" i="0">
                <a:solidFill>
                  <a:srgbClr val="C4292E"/>
                </a:solidFill>
                <a:latin typeface="Calibri"/>
                <a:ea typeface="Calibri"/>
              </a:rPr>
              <a:t>SIBLING</a:t>
            </a:r>
          </a:p>
        </p:txBody>
      </p:sp>
      <p:sp>
        <p:nvSpPr>
          <p:cNvPr id="9" name="TextBox 8"/>
          <p:cNvSpPr txBox="1"/>
          <p:nvPr/>
        </p:nvSpPr>
        <p:spPr>
          <a:xfrm>
            <a:off x="777240" y="2057400"/>
            <a:ext cx="4846320" cy="3017520"/>
          </a:xfrm>
          <a:prstGeom prst="rect">
            <a:avLst/>
          </a:prstGeom>
          <a:noFill/>
        </p:spPr>
        <p:txBody>
          <a:bodyPr wrap="square">
            <a:spAutoFit/>
          </a:bodyPr>
          <a:lstStyle/>
          <a:p>
            <a:pPr>
              <a:spcAft>
                <a:spcPts val="1000"/>
              </a:spcAft>
              <a:buFont typeface="Calibri"/>
              <a:buChar char="•"/>
            </a:pPr>
            <a:r>
              <a:rPr sz="1700" b="0" i="0">
                <a:solidFill>
                  <a:srgbClr val="1B2433"/>
                </a:solidFill>
                <a:latin typeface="Calibri"/>
                <a:ea typeface="Calibri"/>
              </a:rPr>
              <a:t>Kavya Reddy / Vihaan Reddy</a:t>
            </a:r>
          </a:p>
          <a:p>
            <a:pPr>
              <a:spcAft>
                <a:spcPts val="1000"/>
              </a:spcAft>
              <a:buFont typeface="Calibri"/>
              <a:buChar char="•"/>
            </a:pPr>
            <a:r>
              <a:rPr sz="1700" b="0" i="0">
                <a:solidFill>
                  <a:srgbClr val="1B2433"/>
                </a:solidFill>
                <a:latin typeface="Calibri"/>
                <a:ea typeface="Calibri"/>
              </a:rPr>
              <a:t>CMRNPS HRBR · LKG · Enquiry</a:t>
            </a:r>
          </a:p>
          <a:p>
            <a:pPr>
              <a:spcAft>
                <a:spcPts val="1000"/>
              </a:spcAft>
              <a:buFont typeface="Calibri"/>
              <a:buChar char="•"/>
            </a:pPr>
            <a:r>
              <a:rPr sz="1700" b="0" i="0">
                <a:solidFill>
                  <a:srgbClr val="1B2433"/>
                </a:solidFill>
                <a:latin typeface="Calibri"/>
                <a:ea typeface="Calibri"/>
              </a:rPr>
              <a:t>Sibling Enquiry = true</a:t>
            </a:r>
          </a:p>
          <a:p>
            <a:pPr>
              <a:spcAft>
                <a:spcPts val="1000"/>
              </a:spcAft>
              <a:buFont typeface="Calibri"/>
              <a:buChar char="•"/>
            </a:pPr>
            <a:r>
              <a:rPr sz="1700" b="0" i="0">
                <a:solidFill>
                  <a:srgbClr val="1B2433"/>
                </a:solidFill>
                <a:latin typeface="Calibri"/>
                <a:ea typeface="Calibri"/>
              </a:rPr>
              <a:t>Search: Reddy</a:t>
            </a:r>
          </a:p>
        </p:txBody>
      </p:sp>
      <p:sp>
        <p:nvSpPr>
          <p:cNvPr id="10" name="TextBox 9"/>
          <p:cNvSpPr txBox="1"/>
          <p:nvPr/>
        </p:nvSpPr>
        <p:spPr>
          <a:xfrm>
            <a:off x="6492240" y="1600200"/>
            <a:ext cx="4937760" cy="365760"/>
          </a:xfrm>
          <a:prstGeom prst="rect">
            <a:avLst/>
          </a:prstGeom>
          <a:noFill/>
        </p:spPr>
        <p:txBody>
          <a:bodyPr wrap="none">
            <a:spAutoFit/>
          </a:bodyPr>
          <a:lstStyle/>
          <a:p>
            <a:r>
              <a:rPr sz="1300" b="1" i="0">
                <a:solidFill>
                  <a:srgbClr val="C4292E"/>
                </a:solidFill>
                <a:latin typeface="Calibri"/>
                <a:ea typeface="Calibri"/>
              </a:rPr>
              <a:t>INTERCAMPUS</a:t>
            </a:r>
          </a:p>
        </p:txBody>
      </p:sp>
      <p:sp>
        <p:nvSpPr>
          <p:cNvPr id="11" name="TextBox 10"/>
          <p:cNvSpPr txBox="1"/>
          <p:nvPr/>
        </p:nvSpPr>
        <p:spPr>
          <a:xfrm>
            <a:off x="6492240" y="2057400"/>
            <a:ext cx="4846320" cy="3017520"/>
          </a:xfrm>
          <a:prstGeom prst="rect">
            <a:avLst/>
          </a:prstGeom>
          <a:noFill/>
        </p:spPr>
        <p:txBody>
          <a:bodyPr wrap="square">
            <a:spAutoFit/>
          </a:bodyPr>
          <a:lstStyle/>
          <a:p>
            <a:pPr>
              <a:spcAft>
                <a:spcPts val="1000"/>
              </a:spcAft>
              <a:buFont typeface="Calibri"/>
              <a:buChar char="•"/>
            </a:pPr>
            <a:r>
              <a:rPr sz="1700" b="0" i="0">
                <a:solidFill>
                  <a:srgbClr val="1B2433"/>
                </a:solidFill>
                <a:latin typeface="Calibri"/>
                <a:ea typeface="Calibri"/>
              </a:rPr>
              <a:t>Meera Iyer / Ananya Iyer</a:t>
            </a:r>
          </a:p>
          <a:p>
            <a:pPr>
              <a:spcAft>
                <a:spcPts val="1000"/>
              </a:spcAft>
              <a:buFont typeface="Calibri"/>
              <a:buChar char="•"/>
            </a:pPr>
            <a:r>
              <a:rPr sz="1700" b="0" i="0">
                <a:solidFill>
                  <a:srgbClr val="1B2433"/>
                </a:solidFill>
                <a:latin typeface="Calibri"/>
                <a:ea typeface="Calibri"/>
              </a:rPr>
              <a:t>Nava Panathur · Grade 5 · Enquiry</a:t>
            </a:r>
          </a:p>
          <a:p>
            <a:pPr>
              <a:spcAft>
                <a:spcPts val="1000"/>
              </a:spcAft>
              <a:buFont typeface="Calibri"/>
              <a:buChar char="•"/>
            </a:pPr>
            <a:r>
              <a:rPr sz="1700" b="0" i="0">
                <a:solidFill>
                  <a:srgbClr val="1B2433"/>
                </a:solidFill>
                <a:latin typeface="Calibri"/>
                <a:ea typeface="Calibri"/>
              </a:rPr>
              <a:t>Intercampus Enq = true</a:t>
            </a:r>
          </a:p>
          <a:p>
            <a:pPr>
              <a:spcAft>
                <a:spcPts val="1000"/>
              </a:spcAft>
              <a:buFont typeface="Calibri"/>
              <a:buChar char="•"/>
            </a:pPr>
            <a:r>
              <a:rPr sz="1700" b="0" i="0">
                <a:solidFill>
                  <a:srgbClr val="1B2433"/>
                </a:solidFill>
                <a:latin typeface="Calibri"/>
                <a:ea typeface="Calibri"/>
              </a:rPr>
              <a:t>Previous school: Ekya JP Nagar</a:t>
            </a:r>
          </a:p>
          <a:p>
            <a:pPr>
              <a:spcAft>
                <a:spcPts val="1000"/>
              </a:spcAft>
              <a:buFont typeface="Calibri"/>
              <a:buChar char="•"/>
            </a:pPr>
            <a:r>
              <a:rPr sz="1700" b="0" i="0">
                <a:solidFill>
                  <a:srgbClr val="1B2433"/>
                </a:solidFill>
                <a:latin typeface="Calibri"/>
                <a:ea typeface="Calibri"/>
              </a:rPr>
              <a:t>Search: Iyer</a:t>
            </a:r>
          </a:p>
        </p:txBody>
      </p:sp>
      <p:sp>
        <p:nvSpPr>
          <p:cNvPr id="12" name="TextBox 11"/>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2</a:t>
            </a:r>
          </a:p>
        </p:txBody>
      </p:sp>
      <p:sp>
        <p:nvSpPr>
          <p:cNvPr id="13" name="TextBox 12"/>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Leads · Reddy then Iyer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3  ·  6:00–9:00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Three ways an enquiry lands.</a:t>
            </a:r>
          </a:p>
        </p:txBody>
      </p:sp>
      <p:sp>
        <p:nvSpPr>
          <p:cNvPr id="6" name="Rectangle 5"/>
          <p:cNvSpPr/>
          <p:nvPr/>
        </p:nvSpPr>
        <p:spPr>
          <a:xfrm>
            <a:off x="502920" y="137160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3611880" cy="9144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600200"/>
            <a:ext cx="3200400" cy="320040"/>
          </a:xfrm>
          <a:prstGeom prst="rect">
            <a:avLst/>
          </a:prstGeom>
          <a:noFill/>
        </p:spPr>
        <p:txBody>
          <a:bodyPr wrap="none">
            <a:spAutoFit/>
          </a:bodyPr>
          <a:lstStyle/>
          <a:p>
            <a:r>
              <a:rPr sz="1400" b="1" i="0">
                <a:solidFill>
                  <a:srgbClr val="C4292E"/>
                </a:solidFill>
                <a:latin typeface="Calibri"/>
                <a:ea typeface="Calibri"/>
              </a:rPr>
              <a:t>3.a  Inbound phone</a:t>
            </a:r>
          </a:p>
        </p:txBody>
      </p:sp>
      <p:sp>
        <p:nvSpPr>
          <p:cNvPr id="9" name="TextBox 8"/>
          <p:cNvSpPr txBox="1"/>
          <p:nvPr/>
        </p:nvSpPr>
        <p:spPr>
          <a:xfrm>
            <a:off x="704088" y="2011680"/>
            <a:ext cx="3200400" cy="640080"/>
          </a:xfrm>
          <a:prstGeom prst="rect">
            <a:avLst/>
          </a:prstGeom>
          <a:noFill/>
        </p:spPr>
        <p:txBody>
          <a:bodyPr wrap="square">
            <a:spAutoFit/>
          </a:bodyPr>
          <a:lstStyle/>
          <a:p>
            <a:r>
              <a:rPr sz="1600" b="1" i="0">
                <a:solidFill>
                  <a:srgbClr val="0B1F3A"/>
                </a:solidFill>
                <a:latin typeface="Calibri"/>
                <a:ea typeface="Calibri"/>
              </a:rPr>
              <a:t>Maria Joseph / Leo Joseph</a:t>
            </a:r>
          </a:p>
        </p:txBody>
      </p:sp>
      <p:sp>
        <p:nvSpPr>
          <p:cNvPr id="10" name="TextBox 9"/>
          <p:cNvSpPr txBox="1"/>
          <p:nvPr/>
        </p:nvSpPr>
        <p:spPr>
          <a:xfrm>
            <a:off x="704088" y="2743200"/>
            <a:ext cx="3200400" cy="2743200"/>
          </a:xfrm>
          <a:prstGeom prst="rect">
            <a:avLst/>
          </a:prstGeom>
          <a:noFill/>
        </p:spPr>
        <p:txBody>
          <a:bodyPr wrap="square">
            <a:spAutoFit/>
          </a:bodyPr>
          <a:lstStyle/>
          <a:p>
            <a:pPr>
              <a:spcAft>
                <a:spcPts val="800"/>
              </a:spcAft>
            </a:pPr>
            <a:r>
              <a:rPr sz="1500" b="0" i="0">
                <a:solidFill>
                  <a:srgbClr val="4A5568"/>
                </a:solidFill>
                <a:latin typeface="Calibri"/>
                <a:ea typeface="Calibri"/>
              </a:rPr>
              <a:t>How Heard = Inbound Phone</a:t>
            </a:r>
          </a:p>
          <a:p>
            <a:pPr>
              <a:spcAft>
                <a:spcPts val="800"/>
              </a:spcAft>
            </a:pPr>
            <a:r>
              <a:rPr sz="1500" b="0" i="0">
                <a:solidFill>
                  <a:srgbClr val="4A5568"/>
                </a:solidFill>
                <a:latin typeface="Calibri"/>
                <a:ea typeface="Calibri"/>
              </a:rPr>
              <a:t>Hotline 080-46809096</a:t>
            </a:r>
          </a:p>
          <a:p>
            <a:pPr>
              <a:spcAft>
                <a:spcPts val="800"/>
              </a:spcAft>
            </a:pPr>
            <a:r>
              <a:rPr sz="1500" b="0" i="0">
                <a:solidFill>
                  <a:srgbClr val="4A5568"/>
                </a:solidFill>
                <a:latin typeface="Calibri"/>
                <a:ea typeface="Calibri"/>
              </a:rPr>
              <a:t>Call Count 1 · BTM · Enquiry</a:t>
            </a:r>
          </a:p>
          <a:p>
            <a:pPr>
              <a:spcAft>
                <a:spcPts val="800"/>
              </a:spcAft>
            </a:pPr>
            <a:r>
              <a:rPr sz="1500" b="0" i="0">
                <a:solidFill>
                  <a:srgbClr val="4A5568"/>
                </a:solidFill>
                <a:latin typeface="Calibri"/>
                <a:ea typeface="Calibri"/>
              </a:rPr>
              <a:t>Search: Joseph</a:t>
            </a:r>
          </a:p>
        </p:txBody>
      </p:sp>
      <p:sp>
        <p:nvSpPr>
          <p:cNvPr id="11" name="Rectangle 10"/>
          <p:cNvSpPr/>
          <p:nvPr/>
        </p:nvSpPr>
        <p:spPr>
          <a:xfrm>
            <a:off x="4297680" y="137160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371600"/>
            <a:ext cx="3611880" cy="9144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600200"/>
            <a:ext cx="3200400" cy="320040"/>
          </a:xfrm>
          <a:prstGeom prst="rect">
            <a:avLst/>
          </a:prstGeom>
          <a:noFill/>
        </p:spPr>
        <p:txBody>
          <a:bodyPr wrap="none">
            <a:spAutoFit/>
          </a:bodyPr>
          <a:lstStyle/>
          <a:p>
            <a:r>
              <a:rPr sz="1400" b="1" i="0">
                <a:solidFill>
                  <a:srgbClr val="C4292E"/>
                </a:solidFill>
                <a:latin typeface="Calibri"/>
                <a:ea typeface="Calibri"/>
              </a:rPr>
              <a:t>3.b  Database upload</a:t>
            </a:r>
          </a:p>
        </p:txBody>
      </p:sp>
      <p:sp>
        <p:nvSpPr>
          <p:cNvPr id="14" name="TextBox 13"/>
          <p:cNvSpPr txBox="1"/>
          <p:nvPr/>
        </p:nvSpPr>
        <p:spPr>
          <a:xfrm>
            <a:off x="4498848" y="2011680"/>
            <a:ext cx="3200400" cy="640080"/>
          </a:xfrm>
          <a:prstGeom prst="rect">
            <a:avLst/>
          </a:prstGeom>
          <a:noFill/>
        </p:spPr>
        <p:txBody>
          <a:bodyPr wrap="square">
            <a:spAutoFit/>
          </a:bodyPr>
          <a:lstStyle/>
          <a:p>
            <a:r>
              <a:rPr sz="1600" b="1" i="0">
                <a:solidFill>
                  <a:srgbClr val="0B1F3A"/>
                </a:solidFill>
                <a:latin typeface="Calibri"/>
                <a:ea typeface="Calibri"/>
              </a:rPr>
              <a:t>Amit Banerjee / Riya Banerjee</a:t>
            </a:r>
          </a:p>
        </p:txBody>
      </p:sp>
      <p:sp>
        <p:nvSpPr>
          <p:cNvPr id="15" name="TextBox 14"/>
          <p:cNvSpPr txBox="1"/>
          <p:nvPr/>
        </p:nvSpPr>
        <p:spPr>
          <a:xfrm>
            <a:off x="4498848" y="2743200"/>
            <a:ext cx="3200400" cy="2743200"/>
          </a:xfrm>
          <a:prstGeom prst="rect">
            <a:avLst/>
          </a:prstGeom>
          <a:noFill/>
        </p:spPr>
        <p:txBody>
          <a:bodyPr wrap="square">
            <a:spAutoFit/>
          </a:bodyPr>
          <a:lstStyle/>
          <a:p>
            <a:pPr>
              <a:spcAft>
                <a:spcPts val="800"/>
              </a:spcAft>
            </a:pPr>
            <a:r>
              <a:rPr sz="1500" b="0" i="0">
                <a:solidFill>
                  <a:srgbClr val="4A5568"/>
                </a:solidFill>
                <a:latin typeface="Calibri"/>
                <a:ea typeface="Calibri"/>
              </a:rPr>
              <a:t>How Heard = Database Upload</a:t>
            </a:r>
          </a:p>
          <a:p>
            <a:pPr>
              <a:spcAft>
                <a:spcPts val="800"/>
              </a:spcAft>
            </a:pPr>
            <a:r>
              <a:rPr sz="1500" b="0" i="0">
                <a:solidFill>
                  <a:srgbClr val="4A5568"/>
                </a:solidFill>
                <a:latin typeface="Calibri"/>
                <a:ea typeface="Calibri"/>
              </a:rPr>
              <a:t>Stage Enquiry · form empty</a:t>
            </a:r>
          </a:p>
          <a:p>
            <a:pPr>
              <a:spcAft>
                <a:spcPts val="800"/>
              </a:spcAft>
            </a:pPr>
            <a:r>
              <a:rPr sz="1500" b="0" i="0">
                <a:solidFill>
                  <a:srgbClr val="4A5568"/>
                </a:solidFill>
                <a:latin typeface="Calibri"/>
                <a:ea typeface="Calibri"/>
              </a:rPr>
              <a:t>No current-year workflow until the parent acts</a:t>
            </a:r>
          </a:p>
          <a:p>
            <a:pPr>
              <a:spcAft>
                <a:spcPts val="800"/>
              </a:spcAft>
            </a:pPr>
            <a:r>
              <a:rPr sz="1500" b="0" i="0">
                <a:solidFill>
                  <a:srgbClr val="4A5568"/>
                </a:solidFill>
                <a:latin typeface="Calibri"/>
                <a:ea typeface="Calibri"/>
              </a:rPr>
              <a:t>Search: Banerjee</a:t>
            </a:r>
          </a:p>
        </p:txBody>
      </p:sp>
      <p:sp>
        <p:nvSpPr>
          <p:cNvPr id="16" name="Rectangle 15"/>
          <p:cNvSpPr/>
          <p:nvPr/>
        </p:nvSpPr>
        <p:spPr>
          <a:xfrm>
            <a:off x="8092440" y="1371600"/>
            <a:ext cx="36118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92440" y="1371600"/>
            <a:ext cx="3611880" cy="9144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600200"/>
            <a:ext cx="3200400" cy="320040"/>
          </a:xfrm>
          <a:prstGeom prst="rect">
            <a:avLst/>
          </a:prstGeom>
          <a:noFill/>
        </p:spPr>
        <p:txBody>
          <a:bodyPr wrap="none">
            <a:spAutoFit/>
          </a:bodyPr>
          <a:lstStyle/>
          <a:p>
            <a:r>
              <a:rPr sz="1400" b="1" i="0">
                <a:solidFill>
                  <a:srgbClr val="C4292E"/>
                </a:solidFill>
                <a:latin typeface="Calibri"/>
                <a:ea typeface="Calibri"/>
              </a:rPr>
              <a:t>3.c  Abandoned form</a:t>
            </a:r>
          </a:p>
        </p:txBody>
      </p:sp>
      <p:sp>
        <p:nvSpPr>
          <p:cNvPr id="19" name="TextBox 18"/>
          <p:cNvSpPr txBox="1"/>
          <p:nvPr/>
        </p:nvSpPr>
        <p:spPr>
          <a:xfrm>
            <a:off x="8293608" y="2011680"/>
            <a:ext cx="3200400" cy="640080"/>
          </a:xfrm>
          <a:prstGeom prst="rect">
            <a:avLst/>
          </a:prstGeom>
          <a:noFill/>
        </p:spPr>
        <p:txBody>
          <a:bodyPr wrap="square">
            <a:spAutoFit/>
          </a:bodyPr>
          <a:lstStyle/>
          <a:p>
            <a:r>
              <a:rPr sz="1600" b="1" i="0">
                <a:solidFill>
                  <a:srgbClr val="0B1F3A"/>
                </a:solidFill>
                <a:latin typeface="Calibri"/>
                <a:ea typeface="Calibri"/>
              </a:rPr>
              <a:t>Suresh Nair / Nila Nair</a:t>
            </a:r>
          </a:p>
        </p:txBody>
      </p:sp>
      <p:sp>
        <p:nvSpPr>
          <p:cNvPr id="20" name="TextBox 19"/>
          <p:cNvSpPr txBox="1"/>
          <p:nvPr/>
        </p:nvSpPr>
        <p:spPr>
          <a:xfrm>
            <a:off x="8293608" y="2743200"/>
            <a:ext cx="3200400" cy="2743200"/>
          </a:xfrm>
          <a:prstGeom prst="rect">
            <a:avLst/>
          </a:prstGeom>
          <a:noFill/>
        </p:spPr>
        <p:txBody>
          <a:bodyPr wrap="square">
            <a:spAutoFit/>
          </a:bodyPr>
          <a:lstStyle/>
          <a:p>
            <a:pPr>
              <a:spcAft>
                <a:spcPts val="800"/>
              </a:spcAft>
            </a:pPr>
            <a:r>
              <a:rPr sz="1500" b="0" i="0">
                <a:solidFill>
                  <a:srgbClr val="4A5568"/>
                </a:solidFill>
                <a:latin typeface="Calibri"/>
                <a:ea typeface="Calibri"/>
              </a:rPr>
              <a:t>App Initiated · Form Abandoned</a:t>
            </a:r>
          </a:p>
          <a:p>
            <a:pPr>
              <a:spcAft>
                <a:spcPts val="800"/>
              </a:spcAft>
            </a:pPr>
            <a:r>
              <a:rPr sz="1500" b="0" i="0">
                <a:solidFill>
                  <a:srgbClr val="4A5568"/>
                </a:solidFill>
                <a:latin typeface="Calibri"/>
                <a:ea typeface="Calibri"/>
              </a:rPr>
              <a:t>Meta Ads · UKG</a:t>
            </a:r>
          </a:p>
          <a:p>
            <a:pPr>
              <a:spcAft>
                <a:spcPts val="800"/>
              </a:spcAft>
            </a:pPr>
            <a:r>
              <a:rPr sz="1500" b="0" i="0">
                <a:solidFill>
                  <a:srgbClr val="4A5568"/>
                </a:solidFill>
                <a:latin typeface="Calibri"/>
                <a:ea typeface="Calibri"/>
              </a:rPr>
              <a:t>Task: 24h incomplete application</a:t>
            </a:r>
          </a:p>
          <a:p>
            <a:pPr>
              <a:spcAft>
                <a:spcPts val="800"/>
              </a:spcAft>
            </a:pPr>
            <a:r>
              <a:rPr sz="1500" b="0" i="0">
                <a:solidFill>
                  <a:srgbClr val="4A5568"/>
                </a:solidFill>
                <a:latin typeface="Calibri"/>
                <a:ea typeface="Calibri"/>
              </a:rPr>
              <a:t>Search: Nair</a:t>
            </a:r>
          </a:p>
        </p:txBody>
      </p:sp>
      <p:sp>
        <p:nvSpPr>
          <p:cNvPr id="21" name="TextBox 20"/>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3</a:t>
            </a:r>
          </a:p>
        </p:txBody>
      </p:sp>
      <p:sp>
        <p:nvSpPr>
          <p:cNvPr id="22" name="TextBox 21"/>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Joseph → Banerjee → Nair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3  ·  SCREENSHOT FROM THE SOP</a:t>
            </a:r>
          </a:p>
        </p:txBody>
      </p:sp>
      <p:sp>
        <p:nvSpPr>
          <p:cNvPr id="5" name="TextBox 4"/>
          <p:cNvSpPr txBox="1"/>
          <p:nvPr/>
        </p:nvSpPr>
        <p:spPr>
          <a:xfrm>
            <a:off x="502920" y="438912"/>
            <a:ext cx="11155680" cy="640080"/>
          </a:xfrm>
          <a:prstGeom prst="rect">
            <a:avLst/>
          </a:prstGeom>
          <a:noFill/>
        </p:spPr>
        <p:txBody>
          <a:bodyPr wrap="square">
            <a:spAutoFit/>
          </a:bodyPr>
          <a:lstStyle/>
          <a:p>
            <a:r>
              <a:rPr sz="2800" b="1" i="0">
                <a:solidFill>
                  <a:srgbClr val="0B1F3A"/>
                </a:solidFill>
                <a:latin typeface="Calibri"/>
                <a:ea typeface="Calibri"/>
              </a:rPr>
              <a:t>Enquiry forms and inbound phone</a:t>
            </a:r>
          </a:p>
        </p:txBody>
      </p:sp>
      <p:sp>
        <p:nvSpPr>
          <p:cNvPr id="6" name="Rectangle 5"/>
          <p:cNvSpPr/>
          <p:nvPr/>
        </p:nvSpPr>
        <p:spPr>
          <a:xfrm>
            <a:off x="457200" y="1207008"/>
            <a:ext cx="11247120" cy="5120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1-sop-forms-inbound.jpg"/>
          <p:cNvPicPr>
            <a:picLocks noChangeAspect="1"/>
          </p:cNvPicPr>
          <p:nvPr/>
        </p:nvPicPr>
        <p:blipFill>
          <a:blip r:embed="rId2"/>
          <a:stretch>
            <a:fillRect/>
          </a:stretch>
        </p:blipFill>
        <p:spPr>
          <a:xfrm>
            <a:off x="3286555" y="1298448"/>
            <a:ext cx="5588410" cy="4937760"/>
          </a:xfrm>
          <a:prstGeom prst="rect">
            <a:avLst/>
          </a:prstGeom>
        </p:spPr>
      </p:pic>
      <p:sp>
        <p:nvSpPr>
          <p:cNvPr id="8" name="TextBox 7"/>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SOP screenshot</a:t>
            </a:r>
          </a:p>
        </p:txBody>
      </p:sp>
      <p:sp>
        <p:nvSpPr>
          <p:cNvPr id="9" name="TextBox 8"/>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return to Nair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4  ·  9:00–12:00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Book the visit. Recover the miss.</a:t>
            </a:r>
          </a:p>
        </p:txBody>
      </p:sp>
      <p:sp>
        <p:nvSpPr>
          <p:cNvPr id="6" name="Rectangle 5"/>
          <p:cNvSpPr/>
          <p:nvPr/>
        </p:nvSpPr>
        <p:spPr>
          <a:xfrm>
            <a:off x="502920" y="1371600"/>
            <a:ext cx="553212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371600"/>
            <a:ext cx="54406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5029200" cy="320040"/>
          </a:xfrm>
          <a:prstGeom prst="rect">
            <a:avLst/>
          </a:prstGeom>
          <a:noFill/>
        </p:spPr>
        <p:txBody>
          <a:bodyPr wrap="none">
            <a:spAutoFit/>
          </a:bodyPr>
          <a:lstStyle/>
          <a:p>
            <a:r>
              <a:rPr sz="1300" b="1" i="0">
                <a:solidFill>
                  <a:srgbClr val="1F7A6E"/>
                </a:solidFill>
                <a:latin typeface="Calibri"/>
                <a:ea typeface="Calibri"/>
              </a:rPr>
              <a:t>BOOKED</a:t>
            </a:r>
          </a:p>
        </p:txBody>
      </p:sp>
      <p:sp>
        <p:nvSpPr>
          <p:cNvPr id="9" name="TextBox 8"/>
          <p:cNvSpPr txBox="1"/>
          <p:nvPr/>
        </p:nvSpPr>
        <p:spPr>
          <a:xfrm>
            <a:off x="777240" y="2011680"/>
            <a:ext cx="5029200" cy="3474720"/>
          </a:xfrm>
          <a:prstGeom prst="rect">
            <a:avLst/>
          </a:prstGeom>
          <a:noFill/>
        </p:spPr>
        <p:txBody>
          <a:bodyPr wrap="square">
            <a:spAutoFit/>
          </a:bodyPr>
          <a:lstStyle/>
          <a:p>
            <a:pPr>
              <a:spcAft>
                <a:spcPts val="1000"/>
              </a:spcAft>
              <a:buFont typeface="Calibri"/>
              <a:buChar char="•"/>
            </a:pPr>
            <a:r>
              <a:rPr sz="1600" b="0" i="0">
                <a:solidFill>
                  <a:srgbClr val="1B2433"/>
                </a:solidFill>
                <a:latin typeface="Calibri"/>
                <a:ea typeface="Calibri"/>
              </a:rPr>
              <a:t>Priya Menon / Arjun Menon · Byrathi</a:t>
            </a:r>
          </a:p>
          <a:p>
            <a:pPr>
              <a:spcAft>
                <a:spcPts val="1000"/>
              </a:spcAft>
              <a:buFont typeface="Calibri"/>
              <a:buChar char="•"/>
            </a:pPr>
            <a:r>
              <a:rPr sz="1600" b="0" i="0">
                <a:solidFill>
                  <a:srgbClr val="1B2433"/>
                </a:solidFill>
                <a:latin typeface="Calibri"/>
                <a:ea typeface="Calibri"/>
              </a:rPr>
              <a:t>Stage Visit Scheduled · Status Booked</a:t>
            </a:r>
          </a:p>
          <a:p>
            <a:pPr>
              <a:spcAft>
                <a:spcPts val="1000"/>
              </a:spcAft>
              <a:buFont typeface="Calibri"/>
              <a:buChar char="•"/>
            </a:pPr>
            <a:r>
              <a:rPr sz="1600" b="0" i="0">
                <a:solidFill>
                  <a:srgbClr val="1B2433"/>
                </a:solidFill>
                <a:latin typeface="Calibri"/>
                <a:ea typeface="Calibri"/>
              </a:rPr>
              <a:t>18 Sep 2026  10:00–10:30 IST</a:t>
            </a:r>
          </a:p>
          <a:p>
            <a:pPr>
              <a:spcAft>
                <a:spcPts val="1000"/>
              </a:spcAft>
              <a:buFont typeface="Calibri"/>
              <a:buChar char="•"/>
            </a:pPr>
            <a:r>
              <a:rPr sz="1600" b="0" i="0">
                <a:solidFill>
                  <a:srgbClr val="1B2433"/>
                </a:solidFill>
                <a:latin typeface="Calibri"/>
                <a:ea typeface="Calibri"/>
              </a:rPr>
              <a:t>Event on the lead</a:t>
            </a:r>
          </a:p>
          <a:p>
            <a:pPr>
              <a:spcAft>
                <a:spcPts val="1000"/>
              </a:spcAft>
              <a:buFont typeface="Calibri"/>
              <a:buChar char="•"/>
            </a:pPr>
            <a:r>
              <a:rPr sz="1600" b="0" i="0">
                <a:solidFill>
                  <a:srgbClr val="1B2433"/>
                </a:solidFill>
                <a:latin typeface="Calibri"/>
                <a:ea typeface="Calibri"/>
              </a:rPr>
              <a:t>Tasks: day-before, and 30-min with reschedule</a:t>
            </a:r>
          </a:p>
          <a:p>
            <a:pPr>
              <a:spcAft>
                <a:spcPts val="1000"/>
              </a:spcAft>
              <a:buFont typeface="Calibri"/>
              <a:buChar char="•"/>
            </a:pPr>
            <a:r>
              <a:rPr sz="1600" b="0" i="0">
                <a:solidFill>
                  <a:srgbClr val="1B2433"/>
                </a:solidFill>
                <a:latin typeface="Calibri"/>
                <a:ea typeface="Calibri"/>
              </a:rPr>
              <a:t>Search: Menon</a:t>
            </a:r>
          </a:p>
        </p:txBody>
      </p:sp>
      <p:sp>
        <p:nvSpPr>
          <p:cNvPr id="10" name="TextBox 9"/>
          <p:cNvSpPr txBox="1"/>
          <p:nvPr/>
        </p:nvSpPr>
        <p:spPr>
          <a:xfrm>
            <a:off x="6492240" y="1554480"/>
            <a:ext cx="5029200" cy="320040"/>
          </a:xfrm>
          <a:prstGeom prst="rect">
            <a:avLst/>
          </a:prstGeom>
          <a:noFill/>
        </p:spPr>
        <p:txBody>
          <a:bodyPr wrap="none">
            <a:spAutoFit/>
          </a:bodyPr>
          <a:lstStyle/>
          <a:p>
            <a:r>
              <a:rPr sz="1300" b="1" i="0">
                <a:solidFill>
                  <a:srgbClr val="C4292E"/>
                </a:solidFill>
                <a:latin typeface="Calibri"/>
                <a:ea typeface="Calibri"/>
              </a:rPr>
              <a:t>MISSED</a:t>
            </a:r>
          </a:p>
        </p:txBody>
      </p:sp>
      <p:sp>
        <p:nvSpPr>
          <p:cNvPr id="11" name="TextBox 10"/>
          <p:cNvSpPr txBox="1"/>
          <p:nvPr/>
        </p:nvSpPr>
        <p:spPr>
          <a:xfrm>
            <a:off x="6492240" y="2011680"/>
            <a:ext cx="5029200" cy="3474720"/>
          </a:xfrm>
          <a:prstGeom prst="rect">
            <a:avLst/>
          </a:prstGeom>
          <a:noFill/>
        </p:spPr>
        <p:txBody>
          <a:bodyPr wrap="square">
            <a:spAutoFit/>
          </a:bodyPr>
          <a:lstStyle/>
          <a:p>
            <a:pPr>
              <a:spcAft>
                <a:spcPts val="1000"/>
              </a:spcAft>
              <a:buFont typeface="Calibri"/>
              <a:buChar char="•"/>
            </a:pPr>
            <a:r>
              <a:rPr sz="1600" b="0" i="0">
                <a:solidFill>
                  <a:srgbClr val="1B2433"/>
                </a:solidFill>
                <a:latin typeface="Calibri"/>
                <a:ea typeface="Calibri"/>
              </a:rPr>
              <a:t>Rohit Das / Ishaan Das · NICE Road</a:t>
            </a:r>
          </a:p>
          <a:p>
            <a:pPr>
              <a:spcAft>
                <a:spcPts val="1000"/>
              </a:spcAft>
              <a:buFont typeface="Calibri"/>
              <a:buChar char="•"/>
            </a:pPr>
            <a:r>
              <a:rPr sz="1600" b="0" i="0">
                <a:solidFill>
                  <a:srgbClr val="1B2433"/>
                </a:solidFill>
                <a:latin typeface="Calibri"/>
                <a:ea typeface="Calibri"/>
              </a:rPr>
              <a:t>Stage Visit Missed · Status Missed</a:t>
            </a:r>
          </a:p>
          <a:p>
            <a:pPr>
              <a:spcAft>
                <a:spcPts val="1000"/>
              </a:spcAft>
              <a:buFont typeface="Calibri"/>
              <a:buChar char="•"/>
            </a:pPr>
            <a:r>
              <a:rPr sz="1600" b="0" i="0">
                <a:solidFill>
                  <a:srgbClr val="1B2433"/>
                </a:solidFill>
                <a:latin typeface="Calibri"/>
                <a:ea typeface="Calibri"/>
              </a:rPr>
              <a:t>Visit date 10 Sep 2026</a:t>
            </a:r>
          </a:p>
          <a:p>
            <a:pPr>
              <a:spcAft>
                <a:spcPts val="1000"/>
              </a:spcAft>
              <a:buFont typeface="Calibri"/>
              <a:buChar char="•"/>
            </a:pPr>
            <a:r>
              <a:rPr sz="1600" b="0" i="0">
                <a:solidFill>
                  <a:srgbClr val="1B2433"/>
                </a:solidFill>
                <a:latin typeface="Calibri"/>
                <a:ea typeface="Calibri"/>
              </a:rPr>
              <a:t>Missed-visit event + nurture task</a:t>
            </a:r>
          </a:p>
          <a:p>
            <a:pPr>
              <a:spcAft>
                <a:spcPts val="1000"/>
              </a:spcAft>
              <a:buFont typeface="Calibri"/>
              <a:buChar char="•"/>
            </a:pPr>
            <a:r>
              <a:rPr sz="1600" b="0" i="0">
                <a:solidFill>
                  <a:srgbClr val="1B2433"/>
                </a:solidFill>
                <a:latin typeface="Calibri"/>
                <a:ea typeface="Calibri"/>
              </a:rPr>
              <a:t>Setting Visit Status to Missed fires the workflow</a:t>
            </a:r>
          </a:p>
          <a:p>
            <a:pPr>
              <a:spcAft>
                <a:spcPts val="1000"/>
              </a:spcAft>
              <a:buFont typeface="Calibri"/>
              <a:buChar char="•"/>
            </a:pPr>
            <a:r>
              <a:rPr sz="1600" b="0" i="0">
                <a:solidFill>
                  <a:srgbClr val="1B2433"/>
                </a:solidFill>
                <a:latin typeface="Calibri"/>
                <a:ea typeface="Calibri"/>
              </a:rPr>
              <a:t>Search: Das</a:t>
            </a:r>
          </a:p>
        </p:txBody>
      </p:sp>
      <p:sp>
        <p:nvSpPr>
          <p:cNvPr id="12" name="TextBox 11"/>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4</a:t>
            </a:r>
          </a:p>
        </p:txBody>
      </p:sp>
      <p:sp>
        <p:nvSpPr>
          <p:cNvPr id="13" name="TextBox 12"/>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Menon then Das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4  ·  SCREENSHOT FROM THE SOP</a:t>
            </a:r>
          </a:p>
        </p:txBody>
      </p:sp>
      <p:sp>
        <p:nvSpPr>
          <p:cNvPr id="5" name="TextBox 4"/>
          <p:cNvSpPr txBox="1"/>
          <p:nvPr/>
        </p:nvSpPr>
        <p:spPr>
          <a:xfrm>
            <a:off x="502920" y="438912"/>
            <a:ext cx="11155680" cy="640080"/>
          </a:xfrm>
          <a:prstGeom prst="rect">
            <a:avLst/>
          </a:prstGeom>
          <a:noFill/>
        </p:spPr>
        <p:txBody>
          <a:bodyPr wrap="square">
            <a:spAutoFit/>
          </a:bodyPr>
          <a:lstStyle/>
          <a:p>
            <a:r>
              <a:rPr sz="2800" b="1" i="0">
                <a:solidFill>
                  <a:srgbClr val="0B1F3A"/>
                </a:solidFill>
                <a:latin typeface="Calibri"/>
                <a:ea typeface="Calibri"/>
              </a:rPr>
              <a:t>Campus visit and email / WhatsApp flow</a:t>
            </a:r>
          </a:p>
        </p:txBody>
      </p:sp>
      <p:sp>
        <p:nvSpPr>
          <p:cNvPr id="6" name="Rectangle 5"/>
          <p:cNvSpPr/>
          <p:nvPr/>
        </p:nvSpPr>
        <p:spPr>
          <a:xfrm>
            <a:off x="457200" y="1207008"/>
            <a:ext cx="11247120" cy="5120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3-sop-campus-visit.jpg"/>
          <p:cNvPicPr>
            <a:picLocks noChangeAspect="1"/>
          </p:cNvPicPr>
          <p:nvPr/>
        </p:nvPicPr>
        <p:blipFill>
          <a:blip r:embed="rId2"/>
          <a:stretch>
            <a:fillRect/>
          </a:stretch>
        </p:blipFill>
        <p:spPr>
          <a:xfrm>
            <a:off x="2130552" y="1298448"/>
            <a:ext cx="7900416" cy="4937760"/>
          </a:xfrm>
          <a:prstGeom prst="rect">
            <a:avLst/>
          </a:prstGeom>
        </p:spPr>
      </p:pic>
      <p:sp>
        <p:nvSpPr>
          <p:cNvPr id="8" name="TextBox 7"/>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SOP screenshot</a:t>
            </a:r>
          </a:p>
        </p:txBody>
      </p:sp>
      <p:sp>
        <p:nvSpPr>
          <p:cNvPr id="9" name="TextBox 8"/>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Menon then Das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5  ·  12:00–16:00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Submit. HOS comments. Waitlist or accept.</a:t>
            </a:r>
          </a:p>
        </p:txBody>
      </p:sp>
      <p:sp>
        <p:nvSpPr>
          <p:cNvPr id="6" name="Rectangle 5"/>
          <p:cNvSpPr/>
          <p:nvPr/>
        </p:nvSpPr>
        <p:spPr>
          <a:xfrm>
            <a:off x="502920" y="1371600"/>
            <a:ext cx="11155680" cy="1051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36192"/>
            <a:ext cx="457200" cy="640080"/>
          </a:xfrm>
          <a:prstGeom prst="rect">
            <a:avLst/>
          </a:prstGeom>
          <a:noFill/>
        </p:spPr>
        <p:txBody>
          <a:bodyPr wrap="none">
            <a:spAutoFit/>
          </a:bodyPr>
          <a:lstStyle/>
          <a:p>
            <a:r>
              <a:rPr sz="2200" b="1" i="0">
                <a:solidFill>
                  <a:srgbClr val="C4292E"/>
                </a:solidFill>
                <a:latin typeface="Calibri"/>
                <a:ea typeface="Calibri"/>
              </a:rPr>
              <a:t>1</a:t>
            </a:r>
          </a:p>
        </p:txBody>
      </p:sp>
      <p:sp>
        <p:nvSpPr>
          <p:cNvPr id="8" name="TextBox 7"/>
          <p:cNvSpPr txBox="1"/>
          <p:nvPr/>
        </p:nvSpPr>
        <p:spPr>
          <a:xfrm>
            <a:off x="1188720" y="1499616"/>
            <a:ext cx="4846320" cy="365760"/>
          </a:xfrm>
          <a:prstGeom prst="rect">
            <a:avLst/>
          </a:prstGeom>
          <a:noFill/>
        </p:spPr>
        <p:txBody>
          <a:bodyPr wrap="none">
            <a:spAutoFit/>
          </a:bodyPr>
          <a:lstStyle/>
          <a:p>
            <a:r>
              <a:rPr sz="1800" b="1" i="0">
                <a:solidFill>
                  <a:srgbClr val="0B1F3A"/>
                </a:solidFill>
                <a:latin typeface="Calibri"/>
                <a:ea typeface="Calibri"/>
              </a:rPr>
              <a:t>Farah Khan / Zara Khan</a:t>
            </a:r>
          </a:p>
        </p:txBody>
      </p:sp>
      <p:sp>
        <p:nvSpPr>
          <p:cNvPr id="9" name="TextBox 8"/>
          <p:cNvSpPr txBox="1"/>
          <p:nvPr/>
        </p:nvSpPr>
        <p:spPr>
          <a:xfrm>
            <a:off x="1188720" y="1901952"/>
            <a:ext cx="6858000" cy="365760"/>
          </a:xfrm>
          <a:prstGeom prst="rect">
            <a:avLst/>
          </a:prstGeom>
          <a:noFill/>
        </p:spPr>
        <p:txBody>
          <a:bodyPr wrap="none">
            <a:spAutoFit/>
          </a:bodyPr>
          <a:lstStyle/>
          <a:p>
            <a:r>
              <a:rPr sz="1400" b="0" i="0">
                <a:solidFill>
                  <a:srgbClr val="4A5568"/>
                </a:solidFill>
                <a:latin typeface="Calibri"/>
                <a:ea typeface="Calibri"/>
              </a:rPr>
              <a:t>CMRNPS HRBR  ·  form submitted, visit attended</a:t>
            </a:r>
          </a:p>
        </p:txBody>
      </p:sp>
      <p:sp>
        <p:nvSpPr>
          <p:cNvPr id="10" name="TextBox 9"/>
          <p:cNvSpPr txBox="1"/>
          <p:nvPr/>
        </p:nvSpPr>
        <p:spPr>
          <a:xfrm>
            <a:off x="8138160" y="1572768"/>
            <a:ext cx="2194560" cy="640080"/>
          </a:xfrm>
          <a:prstGeom prst="rect">
            <a:avLst/>
          </a:prstGeom>
          <a:noFill/>
        </p:spPr>
        <p:txBody>
          <a:bodyPr wrap="none">
            <a:spAutoFit/>
          </a:bodyPr>
          <a:lstStyle/>
          <a:p>
            <a:pPr algn="r"/>
            <a:r>
              <a:rPr sz="1600" b="1" i="0">
                <a:solidFill>
                  <a:srgbClr val="0B1F3A"/>
                </a:solidFill>
                <a:latin typeface="Calibri"/>
                <a:ea typeface="Calibri"/>
              </a:rPr>
              <a:t>App Submitted</a:t>
            </a:r>
          </a:p>
        </p:txBody>
      </p:sp>
      <p:sp>
        <p:nvSpPr>
          <p:cNvPr id="11" name="TextBox 10"/>
          <p:cNvSpPr txBox="1"/>
          <p:nvPr/>
        </p:nvSpPr>
        <p:spPr>
          <a:xfrm>
            <a:off x="10332720" y="1691640"/>
            <a:ext cx="1097280" cy="365760"/>
          </a:xfrm>
          <a:prstGeom prst="rect">
            <a:avLst/>
          </a:prstGeom>
          <a:noFill/>
        </p:spPr>
        <p:txBody>
          <a:bodyPr wrap="none">
            <a:spAutoFit/>
          </a:bodyPr>
          <a:lstStyle/>
          <a:p>
            <a:r>
              <a:rPr sz="1300" b="0" i="0">
                <a:solidFill>
                  <a:srgbClr val="6B7688"/>
                </a:solidFill>
                <a:latin typeface="Calibri"/>
                <a:ea typeface="Calibri"/>
              </a:rPr>
              <a:t>Khan</a:t>
            </a:r>
          </a:p>
        </p:txBody>
      </p:sp>
      <p:sp>
        <p:nvSpPr>
          <p:cNvPr id="12" name="Rectangle 11"/>
          <p:cNvSpPr/>
          <p:nvPr/>
        </p:nvSpPr>
        <p:spPr>
          <a:xfrm>
            <a:off x="502920" y="2468880"/>
            <a:ext cx="111556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633472"/>
            <a:ext cx="457200" cy="640080"/>
          </a:xfrm>
          <a:prstGeom prst="rect">
            <a:avLst/>
          </a:prstGeom>
          <a:noFill/>
        </p:spPr>
        <p:txBody>
          <a:bodyPr wrap="none">
            <a:spAutoFit/>
          </a:bodyPr>
          <a:lstStyle/>
          <a:p>
            <a:r>
              <a:rPr sz="2200" b="1" i="0">
                <a:solidFill>
                  <a:srgbClr val="C4292E"/>
                </a:solidFill>
                <a:latin typeface="Calibri"/>
                <a:ea typeface="Calibri"/>
              </a:rPr>
              <a:t>2</a:t>
            </a:r>
          </a:p>
        </p:txBody>
      </p:sp>
      <p:sp>
        <p:nvSpPr>
          <p:cNvPr id="14" name="TextBox 13"/>
          <p:cNvSpPr txBox="1"/>
          <p:nvPr/>
        </p:nvSpPr>
        <p:spPr>
          <a:xfrm>
            <a:off x="1188720" y="2596896"/>
            <a:ext cx="4846320" cy="365760"/>
          </a:xfrm>
          <a:prstGeom prst="rect">
            <a:avLst/>
          </a:prstGeom>
          <a:noFill/>
        </p:spPr>
        <p:txBody>
          <a:bodyPr wrap="none">
            <a:spAutoFit/>
          </a:bodyPr>
          <a:lstStyle/>
          <a:p>
            <a:r>
              <a:rPr sz="1800" b="1" i="0">
                <a:solidFill>
                  <a:srgbClr val="0B1F3A"/>
                </a:solidFill>
                <a:latin typeface="Calibri"/>
                <a:ea typeface="Calibri"/>
              </a:rPr>
              <a:t>Lakshmi Rao / Aditi Rao</a:t>
            </a:r>
          </a:p>
        </p:txBody>
      </p:sp>
      <p:sp>
        <p:nvSpPr>
          <p:cNvPr id="15" name="TextBox 14"/>
          <p:cNvSpPr txBox="1"/>
          <p:nvPr/>
        </p:nvSpPr>
        <p:spPr>
          <a:xfrm>
            <a:off x="1188720" y="2999232"/>
            <a:ext cx="6858000" cy="365760"/>
          </a:xfrm>
          <a:prstGeom prst="rect">
            <a:avLst/>
          </a:prstGeom>
          <a:noFill/>
        </p:spPr>
        <p:txBody>
          <a:bodyPr wrap="none">
            <a:spAutoFit/>
          </a:bodyPr>
          <a:lstStyle/>
          <a:p>
            <a:r>
              <a:rPr sz="1400" b="0" i="0">
                <a:solidFill>
                  <a:srgbClr val="4A5568"/>
                </a:solidFill>
                <a:latin typeface="Calibri"/>
                <a:ea typeface="Calibri"/>
              </a:rPr>
              <a:t>Founder Decision Pending  ·  HOS comments on the record</a:t>
            </a:r>
          </a:p>
        </p:txBody>
      </p:sp>
      <p:sp>
        <p:nvSpPr>
          <p:cNvPr id="16" name="TextBox 15"/>
          <p:cNvSpPr txBox="1"/>
          <p:nvPr/>
        </p:nvSpPr>
        <p:spPr>
          <a:xfrm>
            <a:off x="8138160" y="2670048"/>
            <a:ext cx="2194560" cy="640080"/>
          </a:xfrm>
          <a:prstGeom prst="rect">
            <a:avLst/>
          </a:prstGeom>
          <a:noFill/>
        </p:spPr>
        <p:txBody>
          <a:bodyPr wrap="none">
            <a:spAutoFit/>
          </a:bodyPr>
          <a:lstStyle/>
          <a:p>
            <a:pPr algn="r"/>
            <a:r>
              <a:rPr sz="1600" b="1" i="0">
                <a:solidFill>
                  <a:srgbClr val="0B1F3A"/>
                </a:solidFill>
                <a:latin typeface="Calibri"/>
                <a:ea typeface="Calibri"/>
              </a:rPr>
              <a:t>HOS Review</a:t>
            </a:r>
          </a:p>
        </p:txBody>
      </p:sp>
      <p:sp>
        <p:nvSpPr>
          <p:cNvPr id="17" name="TextBox 16"/>
          <p:cNvSpPr txBox="1"/>
          <p:nvPr/>
        </p:nvSpPr>
        <p:spPr>
          <a:xfrm>
            <a:off x="10332720" y="2788920"/>
            <a:ext cx="1097280" cy="365760"/>
          </a:xfrm>
          <a:prstGeom prst="rect">
            <a:avLst/>
          </a:prstGeom>
          <a:noFill/>
        </p:spPr>
        <p:txBody>
          <a:bodyPr wrap="none">
            <a:spAutoFit/>
          </a:bodyPr>
          <a:lstStyle/>
          <a:p>
            <a:r>
              <a:rPr sz="1300" b="0" i="0">
                <a:solidFill>
                  <a:srgbClr val="6B7688"/>
                </a:solidFill>
                <a:latin typeface="Calibri"/>
                <a:ea typeface="Calibri"/>
              </a:rPr>
              <a:t>Rao</a:t>
            </a:r>
          </a:p>
        </p:txBody>
      </p:sp>
      <p:sp>
        <p:nvSpPr>
          <p:cNvPr id="18" name="Rectangle 17"/>
          <p:cNvSpPr/>
          <p:nvPr/>
        </p:nvSpPr>
        <p:spPr>
          <a:xfrm>
            <a:off x="502920" y="3566160"/>
            <a:ext cx="11155680" cy="10515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30752"/>
            <a:ext cx="457200" cy="640080"/>
          </a:xfrm>
          <a:prstGeom prst="rect">
            <a:avLst/>
          </a:prstGeom>
          <a:noFill/>
        </p:spPr>
        <p:txBody>
          <a:bodyPr wrap="none">
            <a:spAutoFit/>
          </a:bodyPr>
          <a:lstStyle/>
          <a:p>
            <a:r>
              <a:rPr sz="2200" b="1" i="0">
                <a:solidFill>
                  <a:srgbClr val="C4292E"/>
                </a:solidFill>
                <a:latin typeface="Calibri"/>
                <a:ea typeface="Calibri"/>
              </a:rPr>
              <a:t>3</a:t>
            </a:r>
          </a:p>
        </p:txBody>
      </p:sp>
      <p:sp>
        <p:nvSpPr>
          <p:cNvPr id="20" name="TextBox 19"/>
          <p:cNvSpPr txBox="1"/>
          <p:nvPr/>
        </p:nvSpPr>
        <p:spPr>
          <a:xfrm>
            <a:off x="1188720" y="3694176"/>
            <a:ext cx="4846320" cy="365760"/>
          </a:xfrm>
          <a:prstGeom prst="rect">
            <a:avLst/>
          </a:prstGeom>
          <a:noFill/>
        </p:spPr>
        <p:txBody>
          <a:bodyPr wrap="none">
            <a:spAutoFit/>
          </a:bodyPr>
          <a:lstStyle/>
          <a:p>
            <a:r>
              <a:rPr sz="1800" b="1" i="0">
                <a:solidFill>
                  <a:srgbClr val="0B1F3A"/>
                </a:solidFill>
                <a:latin typeface="Calibri"/>
                <a:ea typeface="Calibri"/>
              </a:rPr>
              <a:t>Neha Patel / Kabir Patel</a:t>
            </a:r>
          </a:p>
        </p:txBody>
      </p:sp>
      <p:sp>
        <p:nvSpPr>
          <p:cNvPr id="21" name="TextBox 20"/>
          <p:cNvSpPr txBox="1"/>
          <p:nvPr/>
        </p:nvSpPr>
        <p:spPr>
          <a:xfrm>
            <a:off x="1188720" y="4096512"/>
            <a:ext cx="6858000" cy="365760"/>
          </a:xfrm>
          <a:prstGeom prst="rect">
            <a:avLst/>
          </a:prstGeom>
          <a:noFill/>
        </p:spPr>
        <p:txBody>
          <a:bodyPr wrap="none">
            <a:spAutoFit/>
          </a:bodyPr>
          <a:lstStyle/>
          <a:p>
            <a:r>
              <a:rPr sz="1400" b="0" i="0">
                <a:solidFill>
                  <a:srgbClr val="4A5568"/>
                </a:solidFill>
                <a:latin typeface="Calibri"/>
                <a:ea typeface="Calibri"/>
              </a:rPr>
              <a:t>Founder Decision Waitlist  ·  Grade 1 capacity at JP Nagar</a:t>
            </a:r>
          </a:p>
        </p:txBody>
      </p:sp>
      <p:sp>
        <p:nvSpPr>
          <p:cNvPr id="22" name="TextBox 21"/>
          <p:cNvSpPr txBox="1"/>
          <p:nvPr/>
        </p:nvSpPr>
        <p:spPr>
          <a:xfrm>
            <a:off x="8138160" y="3767328"/>
            <a:ext cx="2194560" cy="640080"/>
          </a:xfrm>
          <a:prstGeom prst="rect">
            <a:avLst/>
          </a:prstGeom>
          <a:noFill/>
        </p:spPr>
        <p:txBody>
          <a:bodyPr wrap="none">
            <a:spAutoFit/>
          </a:bodyPr>
          <a:lstStyle/>
          <a:p>
            <a:pPr algn="r"/>
            <a:r>
              <a:rPr sz="1600" b="1" i="0">
                <a:solidFill>
                  <a:srgbClr val="0B1F3A"/>
                </a:solidFill>
                <a:latin typeface="Calibri"/>
                <a:ea typeface="Calibri"/>
              </a:rPr>
              <a:t>Waitlist</a:t>
            </a:r>
          </a:p>
        </p:txBody>
      </p:sp>
      <p:sp>
        <p:nvSpPr>
          <p:cNvPr id="23" name="TextBox 22"/>
          <p:cNvSpPr txBox="1"/>
          <p:nvPr/>
        </p:nvSpPr>
        <p:spPr>
          <a:xfrm>
            <a:off x="10332720" y="3886200"/>
            <a:ext cx="1097280" cy="365760"/>
          </a:xfrm>
          <a:prstGeom prst="rect">
            <a:avLst/>
          </a:prstGeom>
          <a:noFill/>
        </p:spPr>
        <p:txBody>
          <a:bodyPr wrap="none">
            <a:spAutoFit/>
          </a:bodyPr>
          <a:lstStyle/>
          <a:p>
            <a:r>
              <a:rPr sz="1300" b="0" i="0">
                <a:solidFill>
                  <a:srgbClr val="6B7688"/>
                </a:solidFill>
                <a:latin typeface="Calibri"/>
                <a:ea typeface="Calibri"/>
              </a:rPr>
              <a:t>Patel</a:t>
            </a:r>
          </a:p>
        </p:txBody>
      </p:sp>
      <p:sp>
        <p:nvSpPr>
          <p:cNvPr id="24" name="Rectangle 23"/>
          <p:cNvSpPr/>
          <p:nvPr/>
        </p:nvSpPr>
        <p:spPr>
          <a:xfrm>
            <a:off x="502920" y="4663440"/>
            <a:ext cx="11155680" cy="10515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4828032"/>
            <a:ext cx="457200" cy="640080"/>
          </a:xfrm>
          <a:prstGeom prst="rect">
            <a:avLst/>
          </a:prstGeom>
          <a:noFill/>
        </p:spPr>
        <p:txBody>
          <a:bodyPr wrap="none">
            <a:spAutoFit/>
          </a:bodyPr>
          <a:lstStyle/>
          <a:p>
            <a:r>
              <a:rPr sz="2200" b="1" i="0">
                <a:solidFill>
                  <a:srgbClr val="C4292E"/>
                </a:solidFill>
                <a:latin typeface="Calibri"/>
                <a:ea typeface="Calibri"/>
              </a:rPr>
              <a:t>4</a:t>
            </a:r>
          </a:p>
        </p:txBody>
      </p:sp>
      <p:sp>
        <p:nvSpPr>
          <p:cNvPr id="26" name="TextBox 25"/>
          <p:cNvSpPr txBox="1"/>
          <p:nvPr/>
        </p:nvSpPr>
        <p:spPr>
          <a:xfrm>
            <a:off x="1188720" y="4791456"/>
            <a:ext cx="4846320" cy="365760"/>
          </a:xfrm>
          <a:prstGeom prst="rect">
            <a:avLst/>
          </a:prstGeom>
          <a:noFill/>
        </p:spPr>
        <p:txBody>
          <a:bodyPr wrap="none">
            <a:spAutoFit/>
          </a:bodyPr>
          <a:lstStyle/>
          <a:p>
            <a:r>
              <a:rPr sz="1800" b="1" i="0">
                <a:solidFill>
                  <a:srgbClr val="0B1F3A"/>
                </a:solidFill>
                <a:latin typeface="Calibri"/>
                <a:ea typeface="Calibri"/>
              </a:rPr>
              <a:t>Sanjay Mehta / Aanya Mehta</a:t>
            </a:r>
          </a:p>
        </p:txBody>
      </p:sp>
      <p:sp>
        <p:nvSpPr>
          <p:cNvPr id="27" name="TextBox 26"/>
          <p:cNvSpPr txBox="1"/>
          <p:nvPr/>
        </p:nvSpPr>
        <p:spPr>
          <a:xfrm>
            <a:off x="1188720" y="5193792"/>
            <a:ext cx="6858000" cy="365760"/>
          </a:xfrm>
          <a:prstGeom prst="rect">
            <a:avLst/>
          </a:prstGeom>
          <a:noFill/>
        </p:spPr>
        <p:txBody>
          <a:bodyPr wrap="none">
            <a:spAutoFit/>
          </a:bodyPr>
          <a:lstStyle/>
          <a:p>
            <a:r>
              <a:rPr sz="1400" b="0" i="0">
                <a:solidFill>
                  <a:srgbClr val="4A5568"/>
                </a:solidFill>
                <a:latin typeface="Calibri"/>
                <a:ea typeface="Calibri"/>
              </a:rPr>
              <a:t>Founder Decision Accept  ·  workflow moved the stage</a:t>
            </a:r>
          </a:p>
        </p:txBody>
      </p:sp>
      <p:sp>
        <p:nvSpPr>
          <p:cNvPr id="28" name="TextBox 27"/>
          <p:cNvSpPr txBox="1"/>
          <p:nvPr/>
        </p:nvSpPr>
        <p:spPr>
          <a:xfrm>
            <a:off x="8138160" y="4864608"/>
            <a:ext cx="2194560" cy="640080"/>
          </a:xfrm>
          <a:prstGeom prst="rect">
            <a:avLst/>
          </a:prstGeom>
          <a:noFill/>
        </p:spPr>
        <p:txBody>
          <a:bodyPr wrap="none">
            <a:spAutoFit/>
          </a:bodyPr>
          <a:lstStyle/>
          <a:p>
            <a:pPr algn="r"/>
            <a:r>
              <a:rPr sz="1600" b="1" i="0">
                <a:solidFill>
                  <a:srgbClr val="1F7A6E"/>
                </a:solidFill>
                <a:latin typeface="Calibri"/>
                <a:ea typeface="Calibri"/>
              </a:rPr>
              <a:t>Accepted</a:t>
            </a:r>
          </a:p>
        </p:txBody>
      </p:sp>
      <p:sp>
        <p:nvSpPr>
          <p:cNvPr id="29" name="TextBox 28"/>
          <p:cNvSpPr txBox="1"/>
          <p:nvPr/>
        </p:nvSpPr>
        <p:spPr>
          <a:xfrm>
            <a:off x="10332720" y="4983480"/>
            <a:ext cx="1097280" cy="365760"/>
          </a:xfrm>
          <a:prstGeom prst="rect">
            <a:avLst/>
          </a:prstGeom>
          <a:noFill/>
        </p:spPr>
        <p:txBody>
          <a:bodyPr wrap="none">
            <a:spAutoFit/>
          </a:bodyPr>
          <a:lstStyle/>
          <a:p>
            <a:r>
              <a:rPr sz="1300" b="0" i="0">
                <a:solidFill>
                  <a:srgbClr val="6B7688"/>
                </a:solidFill>
                <a:latin typeface="Calibri"/>
                <a:ea typeface="Calibri"/>
              </a:rPr>
              <a:t>Mehta</a:t>
            </a:r>
          </a:p>
        </p:txBody>
      </p:sp>
      <p:sp>
        <p:nvSpPr>
          <p:cNvPr id="30" name="TextBox 2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5</a:t>
            </a:r>
          </a:p>
        </p:txBody>
      </p:sp>
      <p:sp>
        <p:nvSpPr>
          <p:cNvPr id="31" name="TextBox 30"/>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Khan → Rao → Patel → Mehta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6  ·  16:00–17:30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PU is not the Grade 1 pipeline.</a:t>
            </a:r>
          </a:p>
        </p:txBody>
      </p:sp>
      <p:sp>
        <p:nvSpPr>
          <p:cNvPr id="6" name="Rectangle 5"/>
          <p:cNvSpPr/>
          <p:nvPr/>
        </p:nvSpPr>
        <p:spPr>
          <a:xfrm>
            <a:off x="502920" y="1417320"/>
            <a:ext cx="5532120" cy="4023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417320"/>
            <a:ext cx="5440680" cy="402336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00200"/>
            <a:ext cx="5029200" cy="320040"/>
          </a:xfrm>
          <a:prstGeom prst="rect">
            <a:avLst/>
          </a:prstGeom>
          <a:noFill/>
        </p:spPr>
        <p:txBody>
          <a:bodyPr wrap="none">
            <a:spAutoFit/>
          </a:bodyPr>
          <a:lstStyle/>
          <a:p>
            <a:r>
              <a:rPr sz="1300" b="1" i="0">
                <a:solidFill>
                  <a:srgbClr val="C4292E"/>
                </a:solidFill>
                <a:latin typeface="Calibri"/>
                <a:ea typeface="Calibri"/>
              </a:rPr>
              <a:t>K-12 DEAL</a:t>
            </a:r>
          </a:p>
        </p:txBody>
      </p:sp>
      <p:sp>
        <p:nvSpPr>
          <p:cNvPr id="9" name="TextBox 8"/>
          <p:cNvSpPr txBox="1"/>
          <p:nvPr/>
        </p:nvSpPr>
        <p:spPr>
          <a:xfrm>
            <a:off x="777240" y="2057400"/>
            <a:ext cx="5029200" cy="3108960"/>
          </a:xfrm>
          <a:prstGeom prst="rect">
            <a:avLst/>
          </a:prstGeom>
          <a:noFill/>
        </p:spPr>
        <p:txBody>
          <a:bodyPr wrap="square">
            <a:spAutoFit/>
          </a:bodyPr>
          <a:lstStyle/>
          <a:p>
            <a:pPr>
              <a:spcAft>
                <a:spcPts val="1000"/>
              </a:spcAft>
              <a:buFont typeface="Calibri"/>
              <a:buChar char="•"/>
            </a:pPr>
            <a:r>
              <a:rPr sz="1700" b="0" i="0">
                <a:solidFill>
                  <a:srgbClr val="1B2433"/>
                </a:solidFill>
                <a:latin typeface="Calibri"/>
                <a:ea typeface="Calibri"/>
              </a:rPr>
              <a:t>Zara Khan · CMRNPS HRBR</a:t>
            </a:r>
          </a:p>
          <a:p>
            <a:pPr>
              <a:spcAft>
                <a:spcPts val="1000"/>
              </a:spcAft>
              <a:buFont typeface="Calibri"/>
              <a:buChar char="•"/>
            </a:pPr>
            <a:r>
              <a:rPr sz="1700" b="0" i="0">
                <a:solidFill>
                  <a:srgbClr val="1B2433"/>
                </a:solidFill>
                <a:latin typeface="Calibri"/>
                <a:ea typeface="Calibri"/>
              </a:rPr>
              <a:t>App Type K-12 · Grade 6</a:t>
            </a:r>
          </a:p>
          <a:p>
            <a:pPr>
              <a:spcAft>
                <a:spcPts val="1000"/>
              </a:spcAft>
              <a:buFont typeface="Calibri"/>
              <a:buChar char="•"/>
            </a:pPr>
            <a:r>
              <a:rPr sz="1700" b="0" i="0">
                <a:solidFill>
                  <a:srgbClr val="1B2433"/>
                </a:solidFill>
                <a:latin typeface="Calibri"/>
                <a:ea typeface="Calibri"/>
              </a:rPr>
              <a:t>Deal: K-12 Application - Zara Khan</a:t>
            </a:r>
          </a:p>
          <a:p>
            <a:pPr>
              <a:spcAft>
                <a:spcPts val="1000"/>
              </a:spcAft>
              <a:buFont typeface="Calibri"/>
              <a:buChar char="•"/>
            </a:pPr>
            <a:r>
              <a:rPr sz="1700" b="0" i="0">
                <a:solidFill>
                  <a:srgbClr val="1B2433"/>
                </a:solidFill>
                <a:latin typeface="Calibri"/>
                <a:ea typeface="Calibri"/>
              </a:rPr>
              <a:t>Standard Deal Stage stays Qualification</a:t>
            </a:r>
          </a:p>
          <a:p>
            <a:pPr>
              <a:spcAft>
                <a:spcPts val="1000"/>
              </a:spcAft>
              <a:buFont typeface="Calibri"/>
              <a:buChar char="•"/>
            </a:pPr>
            <a:r>
              <a:rPr sz="1700" b="0" i="0">
                <a:solidFill>
                  <a:srgbClr val="1B2433"/>
                </a:solidFill>
                <a:latin typeface="Calibri"/>
                <a:ea typeface="Calibri"/>
              </a:rPr>
              <a:t>Admissions status lives on Ekya stages</a:t>
            </a:r>
          </a:p>
        </p:txBody>
      </p:sp>
      <p:sp>
        <p:nvSpPr>
          <p:cNvPr id="10" name="TextBox 9"/>
          <p:cNvSpPr txBox="1"/>
          <p:nvPr/>
        </p:nvSpPr>
        <p:spPr>
          <a:xfrm>
            <a:off x="6492240" y="1600200"/>
            <a:ext cx="5029200" cy="320040"/>
          </a:xfrm>
          <a:prstGeom prst="rect">
            <a:avLst/>
          </a:prstGeom>
          <a:noFill/>
        </p:spPr>
        <p:txBody>
          <a:bodyPr wrap="none">
            <a:spAutoFit/>
          </a:bodyPr>
          <a:lstStyle/>
          <a:p>
            <a:r>
              <a:rPr sz="1300" b="1" i="0">
                <a:solidFill>
                  <a:srgbClr val="1F7A6E"/>
                </a:solidFill>
                <a:latin typeface="Calibri"/>
                <a:ea typeface="Calibri"/>
              </a:rPr>
              <a:t>PU DEAL</a:t>
            </a:r>
          </a:p>
        </p:txBody>
      </p:sp>
      <p:sp>
        <p:nvSpPr>
          <p:cNvPr id="11" name="TextBox 10"/>
          <p:cNvSpPr txBox="1"/>
          <p:nvPr/>
        </p:nvSpPr>
        <p:spPr>
          <a:xfrm>
            <a:off x="6492240" y="2057400"/>
            <a:ext cx="5029200" cy="3108960"/>
          </a:xfrm>
          <a:prstGeom prst="rect">
            <a:avLst/>
          </a:prstGeom>
          <a:noFill/>
        </p:spPr>
        <p:txBody>
          <a:bodyPr wrap="square">
            <a:spAutoFit/>
          </a:bodyPr>
          <a:lstStyle/>
          <a:p>
            <a:pPr>
              <a:spcAft>
                <a:spcPts val="1000"/>
              </a:spcAft>
              <a:buFont typeface="Calibri"/>
              <a:buChar char="•"/>
            </a:pPr>
            <a:r>
              <a:rPr sz="1700" b="0" i="0">
                <a:solidFill>
                  <a:srgbClr val="1B2433"/>
                </a:solidFill>
                <a:latin typeface="Calibri"/>
                <a:ea typeface="Calibri"/>
              </a:rPr>
              <a:t>Ramesh Gowda / Kiran Gowda</a:t>
            </a:r>
          </a:p>
          <a:p>
            <a:pPr>
              <a:spcAft>
                <a:spcPts val="1000"/>
              </a:spcAft>
              <a:buFont typeface="Calibri"/>
              <a:buChar char="•"/>
            </a:pPr>
            <a:r>
              <a:rPr sz="1700" b="0" i="0">
                <a:solidFill>
                  <a:srgbClr val="1B2433"/>
                </a:solidFill>
                <a:latin typeface="Calibri"/>
                <a:ea typeface="Calibri"/>
              </a:rPr>
              <a:t>Brand CMRNPUC · NPUC HRBR</a:t>
            </a:r>
          </a:p>
          <a:p>
            <a:pPr>
              <a:spcAft>
                <a:spcPts val="1000"/>
              </a:spcAft>
              <a:buFont typeface="Calibri"/>
              <a:buChar char="•"/>
            </a:pPr>
            <a:r>
              <a:rPr sz="1700" b="0" i="0">
                <a:solidFill>
                  <a:srgbClr val="1B2433"/>
                </a:solidFill>
                <a:latin typeface="Calibri"/>
                <a:ea typeface="Calibri"/>
              </a:rPr>
              <a:t>App Type PU · PUC 1 · App Initiated</a:t>
            </a:r>
          </a:p>
          <a:p>
            <a:pPr>
              <a:spcAft>
                <a:spcPts val="1000"/>
              </a:spcAft>
              <a:buFont typeface="Calibri"/>
              <a:buChar char="•"/>
            </a:pPr>
            <a:r>
              <a:rPr sz="1700" b="0" i="0">
                <a:solidFill>
                  <a:srgbClr val="1B2433"/>
                </a:solidFill>
                <a:latin typeface="Calibri"/>
                <a:ea typeface="Calibri"/>
              </a:rPr>
              <a:t>Deal: PU Application - Kiran Gowda</a:t>
            </a:r>
          </a:p>
          <a:p>
            <a:pPr>
              <a:spcAft>
                <a:spcPts val="1000"/>
              </a:spcAft>
              <a:buFont typeface="Calibri"/>
              <a:buChar char="•"/>
            </a:pPr>
            <a:r>
              <a:rPr sz="1700" b="0" i="0">
                <a:solidFill>
                  <a:srgbClr val="1B2433"/>
                </a:solidFill>
                <a:latin typeface="Calibri"/>
                <a:ea typeface="Calibri"/>
              </a:rPr>
              <a:t>Search: Gowda</a:t>
            </a:r>
          </a:p>
        </p:txBody>
      </p:sp>
      <p:sp>
        <p:nvSpPr>
          <p:cNvPr id="12" name="TextBox 11"/>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6</a:t>
            </a:r>
          </a:p>
        </p:txBody>
      </p:sp>
      <p:sp>
        <p:nvSpPr>
          <p:cNvPr id="13" name="TextBox 12"/>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Gowda + Deals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7  ·  17:30–19:00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Six Ekya workflows. The spine of what you just saw.</a:t>
            </a:r>
          </a:p>
        </p:txBody>
      </p:sp>
      <p:sp>
        <p:nvSpPr>
          <p:cNvPr id="6" name="Rectangle 5"/>
          <p:cNvSpPr/>
          <p:nvPr/>
        </p:nvSpPr>
        <p:spPr>
          <a:xfrm>
            <a:off x="502920" y="1353312"/>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36192"/>
            <a:ext cx="457200" cy="365760"/>
          </a:xfrm>
          <a:prstGeom prst="rect">
            <a:avLst/>
          </a:prstGeom>
          <a:noFill/>
        </p:spPr>
        <p:txBody>
          <a:bodyPr wrap="none">
            <a:spAutoFit/>
          </a:bodyPr>
          <a:lstStyle/>
          <a:p>
            <a:r>
              <a:rPr sz="1600" b="1" i="0">
                <a:solidFill>
                  <a:srgbClr val="C4292E"/>
                </a:solidFill>
                <a:latin typeface="Calibri"/>
                <a:ea typeface="Calibri"/>
              </a:rPr>
              <a:t>01</a:t>
            </a:r>
          </a:p>
        </p:txBody>
      </p:sp>
      <p:sp>
        <p:nvSpPr>
          <p:cNvPr id="8" name="TextBox 7"/>
          <p:cNvSpPr txBox="1"/>
          <p:nvPr/>
        </p:nvSpPr>
        <p:spPr>
          <a:xfrm>
            <a:off x="1280160" y="1536192"/>
            <a:ext cx="5029200" cy="365760"/>
          </a:xfrm>
          <a:prstGeom prst="rect">
            <a:avLst/>
          </a:prstGeom>
          <a:noFill/>
        </p:spPr>
        <p:txBody>
          <a:bodyPr wrap="none">
            <a:spAutoFit/>
          </a:bodyPr>
          <a:lstStyle/>
          <a:p>
            <a:r>
              <a:rPr sz="1600" b="1" i="0">
                <a:solidFill>
                  <a:srgbClr val="0B1F3A"/>
                </a:solidFill>
                <a:latin typeface="Calibri"/>
                <a:ea typeface="Calibri"/>
              </a:rPr>
              <a:t>Ekya Set Stage Enquiry</a:t>
            </a:r>
          </a:p>
        </p:txBody>
      </p:sp>
      <p:sp>
        <p:nvSpPr>
          <p:cNvPr id="9" name="TextBox 8"/>
          <p:cNvSpPr txBox="1"/>
          <p:nvPr/>
        </p:nvSpPr>
        <p:spPr>
          <a:xfrm>
            <a:off x="6492240" y="1536192"/>
            <a:ext cx="4937760" cy="365760"/>
          </a:xfrm>
          <a:prstGeom prst="rect">
            <a:avLst/>
          </a:prstGeom>
          <a:noFill/>
        </p:spPr>
        <p:txBody>
          <a:bodyPr wrap="none">
            <a:spAutoFit/>
          </a:bodyPr>
          <a:lstStyle/>
          <a:p>
            <a:r>
              <a:rPr sz="1500" b="0" i="0">
                <a:solidFill>
                  <a:srgbClr val="4A5568"/>
                </a:solidFill>
                <a:latin typeface="Calibri"/>
                <a:ea typeface="Calibri"/>
              </a:rPr>
              <a:t>New branded lead starts at Enquiry</a:t>
            </a:r>
          </a:p>
        </p:txBody>
      </p:sp>
      <p:sp>
        <p:nvSpPr>
          <p:cNvPr id="10" name="Rectangle 9"/>
          <p:cNvSpPr/>
          <p:nvPr/>
        </p:nvSpPr>
        <p:spPr>
          <a:xfrm>
            <a:off x="502920" y="2084832"/>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67712"/>
            <a:ext cx="457200" cy="365760"/>
          </a:xfrm>
          <a:prstGeom prst="rect">
            <a:avLst/>
          </a:prstGeom>
          <a:noFill/>
        </p:spPr>
        <p:txBody>
          <a:bodyPr wrap="none">
            <a:spAutoFit/>
          </a:bodyPr>
          <a:lstStyle/>
          <a:p>
            <a:r>
              <a:rPr sz="1600" b="1" i="0">
                <a:solidFill>
                  <a:srgbClr val="C4292E"/>
                </a:solidFill>
                <a:latin typeface="Calibri"/>
                <a:ea typeface="Calibri"/>
              </a:rPr>
              <a:t>02</a:t>
            </a:r>
          </a:p>
        </p:txBody>
      </p:sp>
      <p:sp>
        <p:nvSpPr>
          <p:cNvPr id="12" name="TextBox 11"/>
          <p:cNvSpPr txBox="1"/>
          <p:nvPr/>
        </p:nvSpPr>
        <p:spPr>
          <a:xfrm>
            <a:off x="1280160" y="2267712"/>
            <a:ext cx="5029200" cy="365760"/>
          </a:xfrm>
          <a:prstGeom prst="rect">
            <a:avLst/>
          </a:prstGeom>
          <a:noFill/>
        </p:spPr>
        <p:txBody>
          <a:bodyPr wrap="none">
            <a:spAutoFit/>
          </a:bodyPr>
          <a:lstStyle/>
          <a:p>
            <a:r>
              <a:rPr sz="1600" b="1" i="0">
                <a:solidFill>
                  <a:srgbClr val="0B1F3A"/>
                </a:solidFill>
                <a:latin typeface="Calibri"/>
                <a:ea typeface="Calibri"/>
              </a:rPr>
              <a:t>Ekya Form Started Stage</a:t>
            </a:r>
          </a:p>
        </p:txBody>
      </p:sp>
      <p:sp>
        <p:nvSpPr>
          <p:cNvPr id="13" name="TextBox 12"/>
          <p:cNvSpPr txBox="1"/>
          <p:nvPr/>
        </p:nvSpPr>
        <p:spPr>
          <a:xfrm>
            <a:off x="6492240" y="2267712"/>
            <a:ext cx="4937760" cy="365760"/>
          </a:xfrm>
          <a:prstGeom prst="rect">
            <a:avLst/>
          </a:prstGeom>
          <a:noFill/>
        </p:spPr>
        <p:txBody>
          <a:bodyPr wrap="none">
            <a:spAutoFit/>
          </a:bodyPr>
          <a:lstStyle/>
          <a:p>
            <a:r>
              <a:rPr sz="1500" b="0" i="0">
                <a:solidFill>
                  <a:srgbClr val="4A5568"/>
                </a:solidFill>
                <a:latin typeface="Calibri"/>
                <a:ea typeface="Calibri"/>
              </a:rPr>
              <a:t>Nair / Diya Sharma → App Initiated</a:t>
            </a:r>
          </a:p>
        </p:txBody>
      </p:sp>
      <p:sp>
        <p:nvSpPr>
          <p:cNvPr id="14" name="Rectangle 13"/>
          <p:cNvSpPr/>
          <p:nvPr/>
        </p:nvSpPr>
        <p:spPr>
          <a:xfrm>
            <a:off x="502920" y="2816352"/>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999232"/>
            <a:ext cx="457200" cy="365760"/>
          </a:xfrm>
          <a:prstGeom prst="rect">
            <a:avLst/>
          </a:prstGeom>
          <a:noFill/>
        </p:spPr>
        <p:txBody>
          <a:bodyPr wrap="none">
            <a:spAutoFit/>
          </a:bodyPr>
          <a:lstStyle/>
          <a:p>
            <a:r>
              <a:rPr sz="1600" b="1" i="0">
                <a:solidFill>
                  <a:srgbClr val="C4292E"/>
                </a:solidFill>
                <a:latin typeface="Calibri"/>
                <a:ea typeface="Calibri"/>
              </a:rPr>
              <a:t>03</a:t>
            </a:r>
          </a:p>
        </p:txBody>
      </p:sp>
      <p:sp>
        <p:nvSpPr>
          <p:cNvPr id="16" name="TextBox 15"/>
          <p:cNvSpPr txBox="1"/>
          <p:nvPr/>
        </p:nvSpPr>
        <p:spPr>
          <a:xfrm>
            <a:off x="1280160" y="2999232"/>
            <a:ext cx="5029200" cy="365760"/>
          </a:xfrm>
          <a:prstGeom prst="rect">
            <a:avLst/>
          </a:prstGeom>
          <a:noFill/>
        </p:spPr>
        <p:txBody>
          <a:bodyPr wrap="none">
            <a:spAutoFit/>
          </a:bodyPr>
          <a:lstStyle/>
          <a:p>
            <a:r>
              <a:rPr sz="1600" b="1" i="0">
                <a:solidFill>
                  <a:srgbClr val="0B1F3A"/>
                </a:solidFill>
                <a:latin typeface="Calibri"/>
                <a:ea typeface="Calibri"/>
              </a:rPr>
              <a:t>Ekya Form Submitted Stage</a:t>
            </a:r>
          </a:p>
        </p:txBody>
      </p:sp>
      <p:sp>
        <p:nvSpPr>
          <p:cNvPr id="17" name="TextBox 16"/>
          <p:cNvSpPr txBox="1"/>
          <p:nvPr/>
        </p:nvSpPr>
        <p:spPr>
          <a:xfrm>
            <a:off x="6492240" y="2999232"/>
            <a:ext cx="4937760" cy="365760"/>
          </a:xfrm>
          <a:prstGeom prst="rect">
            <a:avLst/>
          </a:prstGeom>
          <a:noFill/>
        </p:spPr>
        <p:txBody>
          <a:bodyPr wrap="none">
            <a:spAutoFit/>
          </a:bodyPr>
          <a:lstStyle/>
          <a:p>
            <a:r>
              <a:rPr sz="1500" b="0" i="0">
                <a:solidFill>
                  <a:srgbClr val="4A5568"/>
                </a:solidFill>
                <a:latin typeface="Calibri"/>
                <a:ea typeface="Calibri"/>
              </a:rPr>
              <a:t>Khan / Mehta → App Submitted</a:t>
            </a:r>
          </a:p>
        </p:txBody>
      </p:sp>
      <p:sp>
        <p:nvSpPr>
          <p:cNvPr id="18" name="Rectangle 17"/>
          <p:cNvSpPr/>
          <p:nvPr/>
        </p:nvSpPr>
        <p:spPr>
          <a:xfrm>
            <a:off x="502920" y="3547872"/>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30752"/>
            <a:ext cx="457200" cy="365760"/>
          </a:xfrm>
          <a:prstGeom prst="rect">
            <a:avLst/>
          </a:prstGeom>
          <a:noFill/>
        </p:spPr>
        <p:txBody>
          <a:bodyPr wrap="none">
            <a:spAutoFit/>
          </a:bodyPr>
          <a:lstStyle/>
          <a:p>
            <a:r>
              <a:rPr sz="1600" b="1" i="0">
                <a:solidFill>
                  <a:srgbClr val="C4292E"/>
                </a:solidFill>
                <a:latin typeface="Calibri"/>
                <a:ea typeface="Calibri"/>
              </a:rPr>
              <a:t>04</a:t>
            </a:r>
          </a:p>
        </p:txBody>
      </p:sp>
      <p:sp>
        <p:nvSpPr>
          <p:cNvPr id="20" name="TextBox 19"/>
          <p:cNvSpPr txBox="1"/>
          <p:nvPr/>
        </p:nvSpPr>
        <p:spPr>
          <a:xfrm>
            <a:off x="1280160" y="3730752"/>
            <a:ext cx="5029200" cy="365760"/>
          </a:xfrm>
          <a:prstGeom prst="rect">
            <a:avLst/>
          </a:prstGeom>
          <a:noFill/>
        </p:spPr>
        <p:txBody>
          <a:bodyPr wrap="none">
            <a:spAutoFit/>
          </a:bodyPr>
          <a:lstStyle/>
          <a:p>
            <a:r>
              <a:rPr sz="1600" b="1" i="0">
                <a:solidFill>
                  <a:srgbClr val="0B1F3A"/>
                </a:solidFill>
                <a:latin typeface="Calibri"/>
                <a:ea typeface="Calibri"/>
              </a:rPr>
              <a:t>Ekya Visit Day Before</a:t>
            </a:r>
          </a:p>
        </p:txBody>
      </p:sp>
      <p:sp>
        <p:nvSpPr>
          <p:cNvPr id="21" name="TextBox 20"/>
          <p:cNvSpPr txBox="1"/>
          <p:nvPr/>
        </p:nvSpPr>
        <p:spPr>
          <a:xfrm>
            <a:off x="6492240" y="3730752"/>
            <a:ext cx="4937760" cy="365760"/>
          </a:xfrm>
          <a:prstGeom prst="rect">
            <a:avLst/>
          </a:prstGeom>
          <a:noFill/>
        </p:spPr>
        <p:txBody>
          <a:bodyPr wrap="none">
            <a:spAutoFit/>
          </a:bodyPr>
          <a:lstStyle/>
          <a:p>
            <a:r>
              <a:rPr sz="1500" b="0" i="0">
                <a:solidFill>
                  <a:srgbClr val="4A5568"/>
                </a:solidFill>
                <a:latin typeface="Calibri"/>
                <a:ea typeface="Calibri"/>
              </a:rPr>
              <a:t>Menon reminder the day before 18 Sep</a:t>
            </a:r>
          </a:p>
        </p:txBody>
      </p:sp>
      <p:sp>
        <p:nvSpPr>
          <p:cNvPr id="22" name="Rectangle 21"/>
          <p:cNvSpPr/>
          <p:nvPr/>
        </p:nvSpPr>
        <p:spPr>
          <a:xfrm>
            <a:off x="502920" y="4279392"/>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462272"/>
            <a:ext cx="457200" cy="365760"/>
          </a:xfrm>
          <a:prstGeom prst="rect">
            <a:avLst/>
          </a:prstGeom>
          <a:noFill/>
        </p:spPr>
        <p:txBody>
          <a:bodyPr wrap="none">
            <a:spAutoFit/>
          </a:bodyPr>
          <a:lstStyle/>
          <a:p>
            <a:r>
              <a:rPr sz="1600" b="1" i="0">
                <a:solidFill>
                  <a:srgbClr val="C4292E"/>
                </a:solidFill>
                <a:latin typeface="Calibri"/>
                <a:ea typeface="Calibri"/>
              </a:rPr>
              <a:t>05</a:t>
            </a:r>
          </a:p>
        </p:txBody>
      </p:sp>
      <p:sp>
        <p:nvSpPr>
          <p:cNvPr id="24" name="TextBox 23"/>
          <p:cNvSpPr txBox="1"/>
          <p:nvPr/>
        </p:nvSpPr>
        <p:spPr>
          <a:xfrm>
            <a:off x="1280160" y="4462272"/>
            <a:ext cx="5029200" cy="365760"/>
          </a:xfrm>
          <a:prstGeom prst="rect">
            <a:avLst/>
          </a:prstGeom>
          <a:noFill/>
        </p:spPr>
        <p:txBody>
          <a:bodyPr wrap="none">
            <a:spAutoFit/>
          </a:bodyPr>
          <a:lstStyle/>
          <a:p>
            <a:r>
              <a:rPr sz="1600" b="1" i="0">
                <a:solidFill>
                  <a:srgbClr val="0B1F3A"/>
                </a:solidFill>
                <a:latin typeface="Calibri"/>
                <a:ea typeface="Calibri"/>
              </a:rPr>
              <a:t>Ekya Visit Missed Stage</a:t>
            </a:r>
          </a:p>
        </p:txBody>
      </p:sp>
      <p:sp>
        <p:nvSpPr>
          <p:cNvPr id="25" name="TextBox 24"/>
          <p:cNvSpPr txBox="1"/>
          <p:nvPr/>
        </p:nvSpPr>
        <p:spPr>
          <a:xfrm>
            <a:off x="6492240" y="4462272"/>
            <a:ext cx="4937760" cy="365760"/>
          </a:xfrm>
          <a:prstGeom prst="rect">
            <a:avLst/>
          </a:prstGeom>
          <a:noFill/>
        </p:spPr>
        <p:txBody>
          <a:bodyPr wrap="none">
            <a:spAutoFit/>
          </a:bodyPr>
          <a:lstStyle/>
          <a:p>
            <a:r>
              <a:rPr sz="1500" b="0" i="0">
                <a:solidFill>
                  <a:srgbClr val="4A5568"/>
                </a:solidFill>
                <a:latin typeface="Calibri"/>
                <a:ea typeface="Calibri"/>
              </a:rPr>
              <a:t>Das when Visit Status = Missed</a:t>
            </a:r>
          </a:p>
        </p:txBody>
      </p:sp>
      <p:sp>
        <p:nvSpPr>
          <p:cNvPr id="26" name="Rectangle 25"/>
          <p:cNvSpPr/>
          <p:nvPr/>
        </p:nvSpPr>
        <p:spPr>
          <a:xfrm>
            <a:off x="502920" y="5010912"/>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93792"/>
            <a:ext cx="457200" cy="365760"/>
          </a:xfrm>
          <a:prstGeom prst="rect">
            <a:avLst/>
          </a:prstGeom>
          <a:noFill/>
        </p:spPr>
        <p:txBody>
          <a:bodyPr wrap="none">
            <a:spAutoFit/>
          </a:bodyPr>
          <a:lstStyle/>
          <a:p>
            <a:r>
              <a:rPr sz="1600" b="1" i="0">
                <a:solidFill>
                  <a:srgbClr val="C4292E"/>
                </a:solidFill>
                <a:latin typeface="Calibri"/>
                <a:ea typeface="Calibri"/>
              </a:rPr>
              <a:t>06</a:t>
            </a:r>
          </a:p>
        </p:txBody>
      </p:sp>
      <p:sp>
        <p:nvSpPr>
          <p:cNvPr id="28" name="TextBox 27"/>
          <p:cNvSpPr txBox="1"/>
          <p:nvPr/>
        </p:nvSpPr>
        <p:spPr>
          <a:xfrm>
            <a:off x="1280160" y="5193792"/>
            <a:ext cx="5029200" cy="365760"/>
          </a:xfrm>
          <a:prstGeom prst="rect">
            <a:avLst/>
          </a:prstGeom>
          <a:noFill/>
        </p:spPr>
        <p:txBody>
          <a:bodyPr wrap="none">
            <a:spAutoFit/>
          </a:bodyPr>
          <a:lstStyle/>
          <a:p>
            <a:r>
              <a:rPr sz="1600" b="1" i="0">
                <a:solidFill>
                  <a:srgbClr val="0B1F3A"/>
                </a:solidFill>
                <a:latin typeface="Calibri"/>
                <a:ea typeface="Calibri"/>
              </a:rPr>
              <a:t>Ekya Founder Accept Stage</a:t>
            </a:r>
          </a:p>
        </p:txBody>
      </p:sp>
      <p:sp>
        <p:nvSpPr>
          <p:cNvPr id="29" name="TextBox 28"/>
          <p:cNvSpPr txBox="1"/>
          <p:nvPr/>
        </p:nvSpPr>
        <p:spPr>
          <a:xfrm>
            <a:off x="6492240" y="5193792"/>
            <a:ext cx="4937760" cy="365760"/>
          </a:xfrm>
          <a:prstGeom prst="rect">
            <a:avLst/>
          </a:prstGeom>
          <a:noFill/>
        </p:spPr>
        <p:txBody>
          <a:bodyPr wrap="none">
            <a:spAutoFit/>
          </a:bodyPr>
          <a:lstStyle/>
          <a:p>
            <a:r>
              <a:rPr sz="1500" b="0" i="0">
                <a:solidFill>
                  <a:srgbClr val="4A5568"/>
                </a:solidFill>
                <a:latin typeface="Calibri"/>
                <a:ea typeface="Calibri"/>
              </a:rPr>
              <a:t>Mehta when Founder Decision = Accept</a:t>
            </a:r>
          </a:p>
        </p:txBody>
      </p:sp>
      <p:sp>
        <p:nvSpPr>
          <p:cNvPr id="30" name="TextBox 2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7</a:t>
            </a:r>
          </a:p>
        </p:txBody>
      </p:sp>
      <p:sp>
        <p:nvSpPr>
          <p:cNvPr id="31" name="TextBox 30"/>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CRM · Setup → Workflow Rules → Ekya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8  ·  19:00–20:00</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In this org today. Go-live next.</a:t>
            </a:r>
          </a:p>
        </p:txBody>
      </p:sp>
      <p:sp>
        <p:nvSpPr>
          <p:cNvPr id="6" name="Rectangle 5"/>
          <p:cNvSpPr/>
          <p:nvPr/>
        </p:nvSpPr>
        <p:spPr>
          <a:xfrm>
            <a:off x="502920" y="1371600"/>
            <a:ext cx="553212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371600"/>
            <a:ext cx="5440680" cy="44348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554480"/>
            <a:ext cx="5029200" cy="365760"/>
          </a:xfrm>
          <a:prstGeom prst="rect">
            <a:avLst/>
          </a:prstGeom>
          <a:noFill/>
        </p:spPr>
        <p:txBody>
          <a:bodyPr wrap="none">
            <a:spAutoFit/>
          </a:bodyPr>
          <a:lstStyle/>
          <a:p>
            <a:r>
              <a:rPr sz="1300" b="1" i="0">
                <a:solidFill>
                  <a:srgbClr val="1F7A6E"/>
                </a:solidFill>
                <a:latin typeface="Calibri"/>
                <a:ea typeface="Calibri"/>
              </a:rPr>
              <a:t>YOU JUST CLICKED</a:t>
            </a:r>
          </a:p>
        </p:txBody>
      </p:sp>
      <p:sp>
        <p:nvSpPr>
          <p:cNvPr id="9" name="TextBox 8"/>
          <p:cNvSpPr txBox="1"/>
          <p:nvPr/>
        </p:nvSpPr>
        <p:spPr>
          <a:xfrm>
            <a:off x="777240" y="2011680"/>
            <a:ext cx="5029200" cy="3474720"/>
          </a:xfrm>
          <a:prstGeom prst="rect">
            <a:avLst/>
          </a:prstGeom>
          <a:noFill/>
        </p:spPr>
        <p:txBody>
          <a:bodyPr wrap="square">
            <a:spAutoFit/>
          </a:bodyPr>
          <a:lstStyle/>
          <a:p>
            <a:pPr>
              <a:spcAft>
                <a:spcPts val="1000"/>
              </a:spcAft>
              <a:buFont typeface="Calibri"/>
              <a:buChar char="•"/>
            </a:pPr>
            <a:r>
              <a:rPr sz="1600" b="0" i="0">
                <a:solidFill>
                  <a:srgbClr val="1B2433"/>
                </a:solidFill>
                <a:latin typeface="Calibri"/>
                <a:ea typeface="Calibri"/>
              </a:rPr>
              <a:t>Brand, campus, grade, channel on every lead</a:t>
            </a:r>
          </a:p>
          <a:p>
            <a:pPr>
              <a:spcAft>
                <a:spcPts val="1000"/>
              </a:spcAft>
              <a:buFont typeface="Calibri"/>
              <a:buChar char="•"/>
            </a:pPr>
            <a:r>
              <a:rPr sz="1600" b="0" i="0">
                <a:solidFill>
                  <a:srgbClr val="1B2433"/>
                </a:solidFill>
                <a:latin typeface="Calibri"/>
                <a:ea typeface="Calibri"/>
              </a:rPr>
              <a:t>Same phone, two campus journeys</a:t>
            </a:r>
          </a:p>
          <a:p>
            <a:pPr>
              <a:spcAft>
                <a:spcPts val="1000"/>
              </a:spcAft>
              <a:buFont typeface="Calibri"/>
              <a:buChar char="•"/>
            </a:pPr>
            <a:r>
              <a:rPr sz="1600" b="0" i="0">
                <a:solidFill>
                  <a:srgbClr val="1B2433"/>
                </a:solidFill>
                <a:latin typeface="Calibri"/>
                <a:ea typeface="Calibri"/>
              </a:rPr>
              <a:t>Sibling and intercampus flags</a:t>
            </a:r>
          </a:p>
          <a:p>
            <a:pPr>
              <a:spcAft>
                <a:spcPts val="1000"/>
              </a:spcAft>
              <a:buFont typeface="Calibri"/>
              <a:buChar char="•"/>
            </a:pPr>
            <a:r>
              <a:rPr sz="1600" b="0" i="0">
                <a:solidFill>
                  <a:srgbClr val="1B2433"/>
                </a:solidFill>
                <a:latin typeface="Calibri"/>
                <a:ea typeface="Calibri"/>
              </a:rPr>
              <a:t>Visit booked and missed nurture</a:t>
            </a:r>
          </a:p>
          <a:p>
            <a:pPr>
              <a:spcAft>
                <a:spcPts val="1000"/>
              </a:spcAft>
              <a:buFont typeface="Calibri"/>
              <a:buChar char="•"/>
            </a:pPr>
            <a:r>
              <a:rPr sz="1600" b="0" i="0">
                <a:solidFill>
                  <a:srgbClr val="1B2433"/>
                </a:solidFill>
                <a:latin typeface="Calibri"/>
                <a:ea typeface="Calibri"/>
              </a:rPr>
              <a:t>HOS comments and founder accept / waitlist</a:t>
            </a:r>
          </a:p>
          <a:p>
            <a:pPr>
              <a:spcAft>
                <a:spcPts val="1000"/>
              </a:spcAft>
              <a:buFont typeface="Calibri"/>
              <a:buChar char="•"/>
            </a:pPr>
            <a:r>
              <a:rPr sz="1600" b="0" i="0">
                <a:solidFill>
                  <a:srgbClr val="1B2433"/>
                </a:solidFill>
                <a:latin typeface="Calibri"/>
                <a:ea typeface="Calibri"/>
              </a:rPr>
              <a:t>K-12 and PU as parallel pipelines</a:t>
            </a:r>
          </a:p>
        </p:txBody>
      </p:sp>
      <p:sp>
        <p:nvSpPr>
          <p:cNvPr id="10" name="TextBox 9"/>
          <p:cNvSpPr txBox="1"/>
          <p:nvPr/>
        </p:nvSpPr>
        <p:spPr>
          <a:xfrm>
            <a:off x="6492240" y="1554480"/>
            <a:ext cx="5029200" cy="365760"/>
          </a:xfrm>
          <a:prstGeom prst="rect">
            <a:avLst/>
          </a:prstGeom>
          <a:noFill/>
        </p:spPr>
        <p:txBody>
          <a:bodyPr wrap="none">
            <a:spAutoFit/>
          </a:bodyPr>
          <a:lstStyle/>
          <a:p>
            <a:r>
              <a:rPr sz="1300" b="1" i="0">
                <a:solidFill>
                  <a:srgbClr val="C4292E"/>
                </a:solidFill>
                <a:latin typeface="Calibri"/>
                <a:ea typeface="Calibri"/>
              </a:rPr>
              <a:t>TO GO LIVE</a:t>
            </a:r>
          </a:p>
        </p:txBody>
      </p:sp>
      <p:sp>
        <p:nvSpPr>
          <p:cNvPr id="11" name="TextBox 10"/>
          <p:cNvSpPr txBox="1"/>
          <p:nvPr/>
        </p:nvSpPr>
        <p:spPr>
          <a:xfrm>
            <a:off x="6492240" y="2011680"/>
            <a:ext cx="5029200" cy="3474720"/>
          </a:xfrm>
          <a:prstGeom prst="rect">
            <a:avLst/>
          </a:prstGeom>
          <a:noFill/>
        </p:spPr>
        <p:txBody>
          <a:bodyPr wrap="square">
            <a:spAutoFit/>
          </a:bodyPr>
          <a:lstStyle/>
          <a:p>
            <a:pPr>
              <a:spcAft>
                <a:spcPts val="1000"/>
              </a:spcAft>
              <a:buFont typeface="Calibri"/>
              <a:buChar char="•"/>
            </a:pPr>
            <a:r>
              <a:rPr sz="1500" b="0" i="0">
                <a:solidFill>
                  <a:srgbClr val="1B2433"/>
                </a:solidFill>
                <a:latin typeface="Calibri"/>
                <a:ea typeface="Calibri"/>
              </a:rPr>
              <a:t>Forms with OTP</a:t>
            </a:r>
          </a:p>
          <a:p>
            <a:pPr>
              <a:spcAft>
                <a:spcPts val="1000"/>
              </a:spcAft>
              <a:buFont typeface="Calibri"/>
              <a:buChar char="•"/>
            </a:pPr>
            <a:r>
              <a:rPr sz="1500" b="0" i="0">
                <a:solidFill>
                  <a:srgbClr val="1B2433"/>
                </a:solidFill>
                <a:latin typeface="Calibri"/>
                <a:ea typeface="Calibri"/>
              </a:rPr>
              <a:t>Parent portal for documents and edit</a:t>
            </a:r>
          </a:p>
          <a:p>
            <a:pPr>
              <a:spcAft>
                <a:spcPts val="1000"/>
              </a:spcAft>
              <a:buFont typeface="Calibri"/>
              <a:buChar char="•"/>
            </a:pPr>
            <a:r>
              <a:rPr sz="1500" b="0" i="0">
                <a:solidFill>
                  <a:srgbClr val="1B2433"/>
                </a:solidFill>
                <a:latin typeface="Calibri"/>
                <a:ea typeface="Calibri"/>
              </a:rPr>
              <a:t>Bookings or Google Calendar</a:t>
            </a:r>
          </a:p>
          <a:p>
            <a:pPr>
              <a:spcAft>
                <a:spcPts val="1000"/>
              </a:spcAft>
              <a:buFont typeface="Calibri"/>
              <a:buChar char="•"/>
            </a:pPr>
            <a:r>
              <a:rPr sz="1500" b="0" i="0">
                <a:solidFill>
                  <a:srgbClr val="1B2433"/>
                </a:solidFill>
                <a:latin typeface="Calibri"/>
                <a:ea typeface="Calibri"/>
              </a:rPr>
              <a:t>Campaigns and WhatsApp by grade</a:t>
            </a:r>
          </a:p>
          <a:p>
            <a:pPr>
              <a:spcAft>
                <a:spcPts val="1000"/>
              </a:spcAft>
              <a:buFont typeface="Calibri"/>
              <a:buChar char="•"/>
            </a:pPr>
            <a:r>
              <a:rPr sz="1500" b="0" i="0">
                <a:solidFill>
                  <a:srgbClr val="1B2433"/>
                </a:solidFill>
                <a:latin typeface="Calibri"/>
                <a:ea typeface="Calibri"/>
              </a:rPr>
              <a:t>Marketplace telephony on four hotlines</a:t>
            </a:r>
          </a:p>
          <a:p>
            <a:pPr>
              <a:spcAft>
                <a:spcPts val="1000"/>
              </a:spcAft>
              <a:buFont typeface="Calibri"/>
              <a:buChar char="•"/>
            </a:pPr>
            <a:r>
              <a:rPr sz="1500" b="0" i="0">
                <a:solidFill>
                  <a:srgbClr val="1B2433"/>
                </a:solidFill>
                <a:latin typeface="Calibri"/>
                <a:ea typeface="Calibri"/>
              </a:rPr>
              <a:t>Payment with campus-specific bank details</a:t>
            </a:r>
          </a:p>
          <a:p>
            <a:pPr>
              <a:spcAft>
                <a:spcPts val="1000"/>
              </a:spcAft>
              <a:buFont typeface="Calibri"/>
              <a:buChar char="•"/>
            </a:pPr>
            <a:r>
              <a:rPr sz="1500" b="0" i="0">
                <a:solidFill>
                  <a:srgbClr val="1B2433"/>
                </a:solidFill>
                <a:latin typeface="Calibri"/>
                <a:ea typeface="Calibri"/>
              </a:rPr>
              <a:t>Books: one org under Zoho One; other legal entities standalone</a:t>
            </a:r>
          </a:p>
        </p:txBody>
      </p:sp>
      <p:sp>
        <p:nvSpPr>
          <p:cNvPr id="12" name="TextBox 11"/>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Scene 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SCENE 8  ·  SCREENSHOT FROM THE SOP</a:t>
            </a:r>
          </a:p>
        </p:txBody>
      </p:sp>
      <p:sp>
        <p:nvSpPr>
          <p:cNvPr id="5" name="TextBox 4"/>
          <p:cNvSpPr txBox="1"/>
          <p:nvPr/>
        </p:nvSpPr>
        <p:spPr>
          <a:xfrm>
            <a:off x="502920" y="438912"/>
            <a:ext cx="11155680" cy="640080"/>
          </a:xfrm>
          <a:prstGeom prst="rect">
            <a:avLst/>
          </a:prstGeom>
          <a:noFill/>
        </p:spPr>
        <p:txBody>
          <a:bodyPr wrap="square">
            <a:spAutoFit/>
          </a:bodyPr>
          <a:lstStyle/>
          <a:p>
            <a:r>
              <a:rPr sz="2800" b="1" i="0">
                <a:solidFill>
                  <a:srgbClr val="0B1F3A"/>
                </a:solidFill>
                <a:latin typeface="Calibri"/>
                <a:ea typeface="Calibri"/>
              </a:rPr>
              <a:t>Portal, telephony, and acceptance</a:t>
            </a:r>
          </a:p>
        </p:txBody>
      </p:sp>
      <p:sp>
        <p:nvSpPr>
          <p:cNvPr id="6" name="Rectangle 5"/>
          <p:cNvSpPr/>
          <p:nvPr/>
        </p:nvSpPr>
        <p:spPr>
          <a:xfrm>
            <a:off x="457200" y="1207008"/>
            <a:ext cx="11247120" cy="5120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8-sop-portal-telephony.jpg"/>
          <p:cNvPicPr>
            <a:picLocks noChangeAspect="1"/>
          </p:cNvPicPr>
          <p:nvPr/>
        </p:nvPicPr>
        <p:blipFill>
          <a:blip r:embed="rId2"/>
          <a:stretch>
            <a:fillRect/>
          </a:stretch>
        </p:blipFill>
        <p:spPr>
          <a:xfrm>
            <a:off x="3263782" y="1298448"/>
            <a:ext cx="5633955" cy="4937760"/>
          </a:xfrm>
          <a:prstGeom prst="rect">
            <a:avLst/>
          </a:prstGeom>
        </p:spPr>
      </p:pic>
      <p:sp>
        <p:nvSpPr>
          <p:cNvPr id="8" name="TextBox 7"/>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SOP screenshot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377440"/>
            <a:ext cx="10972800" cy="1097280"/>
          </a:xfrm>
          <a:prstGeom prst="rect">
            <a:avLst/>
          </a:prstGeom>
          <a:noFill/>
        </p:spPr>
        <p:txBody>
          <a:bodyPr wrap="none">
            <a:spAutoFit/>
          </a:bodyPr>
          <a:lstStyle/>
          <a:p>
            <a:r>
              <a:rPr sz="3600" b="1" i="0">
                <a:solidFill>
                  <a:srgbClr val="FFFFFF"/>
                </a:solidFill>
                <a:latin typeface="Calibri"/>
                <a:ea typeface="Calibri"/>
              </a:rPr>
              <a:t>Questions from this org</a:t>
            </a:r>
          </a:p>
        </p:txBody>
      </p:sp>
      <p:sp>
        <p:nvSpPr>
          <p:cNvPr id="5" name="TextBox 4"/>
          <p:cNvSpPr txBox="1"/>
          <p:nvPr/>
        </p:nvSpPr>
        <p:spPr>
          <a:xfrm>
            <a:off x="640080" y="3657600"/>
            <a:ext cx="10972800" cy="1280160"/>
          </a:xfrm>
          <a:prstGeom prst="rect">
            <a:avLst/>
          </a:prstGeom>
          <a:noFill/>
        </p:spPr>
        <p:txBody>
          <a:bodyPr wrap="square">
            <a:spAutoFit/>
          </a:bodyPr>
          <a:lstStyle/>
          <a:p>
            <a:r>
              <a:rPr sz="2000" b="0" i="0">
                <a:solidFill>
                  <a:srgbClr val="D5DEEA"/>
                </a:solidFill>
                <a:latin typeface="Calibri"/>
                <a:ea typeface="Calibri"/>
              </a:rPr>
              <a:t>Two applications on one phone  ·  Sibling vs intercampus
K-12 vs PU  ·  Missed-visit nurture  ·  HOS to founder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PRESENTER APPENDIX</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Search cheat sheet</a:t>
            </a:r>
          </a:p>
        </p:txBody>
      </p:sp>
      <p:sp>
        <p:nvSpPr>
          <p:cNvPr id="6" name="Rectangle 5"/>
          <p:cNvSpPr/>
          <p:nvPr/>
        </p:nvSpPr>
        <p:spPr>
          <a:xfrm>
            <a:off x="502920" y="137160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99616"/>
            <a:ext cx="3291840" cy="320040"/>
          </a:xfrm>
          <a:prstGeom prst="rect">
            <a:avLst/>
          </a:prstGeom>
          <a:noFill/>
        </p:spPr>
        <p:txBody>
          <a:bodyPr wrap="none">
            <a:spAutoFit/>
          </a:bodyPr>
          <a:lstStyle/>
          <a:p>
            <a:r>
              <a:rPr sz="1500" b="0" i="0">
                <a:solidFill>
                  <a:srgbClr val="4A5568"/>
                </a:solidFill>
                <a:latin typeface="Calibri"/>
                <a:ea typeface="Calibri"/>
              </a:rPr>
              <a:t>Two campuses, same phone</a:t>
            </a:r>
          </a:p>
        </p:txBody>
      </p:sp>
      <p:sp>
        <p:nvSpPr>
          <p:cNvPr id="8" name="TextBox 7"/>
          <p:cNvSpPr txBox="1"/>
          <p:nvPr/>
        </p:nvSpPr>
        <p:spPr>
          <a:xfrm>
            <a:off x="3886200" y="1499616"/>
            <a:ext cx="1828800" cy="320040"/>
          </a:xfrm>
          <a:prstGeom prst="rect">
            <a:avLst/>
          </a:prstGeom>
          <a:noFill/>
        </p:spPr>
        <p:txBody>
          <a:bodyPr wrap="none">
            <a:spAutoFit/>
          </a:bodyPr>
          <a:lstStyle/>
          <a:p>
            <a:pPr algn="r"/>
            <a:r>
              <a:rPr sz="1600" b="1" i="0">
                <a:solidFill>
                  <a:srgbClr val="0B1F3A"/>
                </a:solidFill>
                <a:latin typeface="Calibri"/>
                <a:ea typeface="Calibri"/>
              </a:rPr>
              <a:t>9876543210</a:t>
            </a:r>
          </a:p>
        </p:txBody>
      </p:sp>
      <p:sp>
        <p:nvSpPr>
          <p:cNvPr id="9" name="Rectangle 8"/>
          <p:cNvSpPr/>
          <p:nvPr/>
        </p:nvSpPr>
        <p:spPr>
          <a:xfrm>
            <a:off x="502920" y="2011680"/>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39696"/>
            <a:ext cx="3291840" cy="320040"/>
          </a:xfrm>
          <a:prstGeom prst="rect">
            <a:avLst/>
          </a:prstGeom>
          <a:noFill/>
        </p:spPr>
        <p:txBody>
          <a:bodyPr wrap="none">
            <a:spAutoFit/>
          </a:bodyPr>
          <a:lstStyle/>
          <a:p>
            <a:r>
              <a:rPr sz="1500" b="0" i="0">
                <a:solidFill>
                  <a:srgbClr val="4A5568"/>
                </a:solidFill>
                <a:latin typeface="Calibri"/>
                <a:ea typeface="Calibri"/>
              </a:rPr>
              <a:t>Sibling</a:t>
            </a:r>
          </a:p>
        </p:txBody>
      </p:sp>
      <p:sp>
        <p:nvSpPr>
          <p:cNvPr id="11" name="TextBox 10"/>
          <p:cNvSpPr txBox="1"/>
          <p:nvPr/>
        </p:nvSpPr>
        <p:spPr>
          <a:xfrm>
            <a:off x="3886200" y="2139696"/>
            <a:ext cx="1828800" cy="320040"/>
          </a:xfrm>
          <a:prstGeom prst="rect">
            <a:avLst/>
          </a:prstGeom>
          <a:noFill/>
        </p:spPr>
        <p:txBody>
          <a:bodyPr wrap="none">
            <a:spAutoFit/>
          </a:bodyPr>
          <a:lstStyle/>
          <a:p>
            <a:pPr algn="r"/>
            <a:r>
              <a:rPr sz="1600" b="1" i="0">
                <a:solidFill>
                  <a:srgbClr val="0B1F3A"/>
                </a:solidFill>
                <a:latin typeface="Calibri"/>
                <a:ea typeface="Calibri"/>
              </a:rPr>
              <a:t>Reddy</a:t>
            </a:r>
          </a:p>
        </p:txBody>
      </p:sp>
      <p:sp>
        <p:nvSpPr>
          <p:cNvPr id="12" name="Rectangle 11"/>
          <p:cNvSpPr/>
          <p:nvPr/>
        </p:nvSpPr>
        <p:spPr>
          <a:xfrm>
            <a:off x="502920" y="265176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79776"/>
            <a:ext cx="3291840" cy="320040"/>
          </a:xfrm>
          <a:prstGeom prst="rect">
            <a:avLst/>
          </a:prstGeom>
          <a:noFill/>
        </p:spPr>
        <p:txBody>
          <a:bodyPr wrap="none">
            <a:spAutoFit/>
          </a:bodyPr>
          <a:lstStyle/>
          <a:p>
            <a:r>
              <a:rPr sz="1500" b="0" i="0">
                <a:solidFill>
                  <a:srgbClr val="4A5568"/>
                </a:solidFill>
                <a:latin typeface="Calibri"/>
                <a:ea typeface="Calibri"/>
              </a:rPr>
              <a:t>Intercampus</a:t>
            </a:r>
          </a:p>
        </p:txBody>
      </p:sp>
      <p:sp>
        <p:nvSpPr>
          <p:cNvPr id="14" name="TextBox 13"/>
          <p:cNvSpPr txBox="1"/>
          <p:nvPr/>
        </p:nvSpPr>
        <p:spPr>
          <a:xfrm>
            <a:off x="3886200" y="2779776"/>
            <a:ext cx="1828800" cy="320040"/>
          </a:xfrm>
          <a:prstGeom prst="rect">
            <a:avLst/>
          </a:prstGeom>
          <a:noFill/>
        </p:spPr>
        <p:txBody>
          <a:bodyPr wrap="none">
            <a:spAutoFit/>
          </a:bodyPr>
          <a:lstStyle/>
          <a:p>
            <a:pPr algn="r"/>
            <a:r>
              <a:rPr sz="1600" b="1" i="0">
                <a:solidFill>
                  <a:srgbClr val="0B1F3A"/>
                </a:solidFill>
                <a:latin typeface="Calibri"/>
                <a:ea typeface="Calibri"/>
              </a:rPr>
              <a:t>Iyer</a:t>
            </a:r>
          </a:p>
        </p:txBody>
      </p:sp>
      <p:sp>
        <p:nvSpPr>
          <p:cNvPr id="15" name="Rectangle 14"/>
          <p:cNvSpPr/>
          <p:nvPr/>
        </p:nvSpPr>
        <p:spPr>
          <a:xfrm>
            <a:off x="502920" y="3291839"/>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19855"/>
            <a:ext cx="3291840" cy="320040"/>
          </a:xfrm>
          <a:prstGeom prst="rect">
            <a:avLst/>
          </a:prstGeom>
          <a:noFill/>
        </p:spPr>
        <p:txBody>
          <a:bodyPr wrap="none">
            <a:spAutoFit/>
          </a:bodyPr>
          <a:lstStyle/>
          <a:p>
            <a:r>
              <a:rPr sz="1500" b="0" i="0">
                <a:solidFill>
                  <a:srgbClr val="4A5568"/>
                </a:solidFill>
                <a:latin typeface="Calibri"/>
                <a:ea typeface="Calibri"/>
              </a:rPr>
              <a:t>Abandoned form</a:t>
            </a:r>
          </a:p>
        </p:txBody>
      </p:sp>
      <p:sp>
        <p:nvSpPr>
          <p:cNvPr id="17" name="TextBox 16"/>
          <p:cNvSpPr txBox="1"/>
          <p:nvPr/>
        </p:nvSpPr>
        <p:spPr>
          <a:xfrm>
            <a:off x="3886200" y="3419855"/>
            <a:ext cx="1828800" cy="320040"/>
          </a:xfrm>
          <a:prstGeom prst="rect">
            <a:avLst/>
          </a:prstGeom>
          <a:noFill/>
        </p:spPr>
        <p:txBody>
          <a:bodyPr wrap="none">
            <a:spAutoFit/>
          </a:bodyPr>
          <a:lstStyle/>
          <a:p>
            <a:pPr algn="r"/>
            <a:r>
              <a:rPr sz="1600" b="1" i="0">
                <a:solidFill>
                  <a:srgbClr val="0B1F3A"/>
                </a:solidFill>
                <a:latin typeface="Calibri"/>
                <a:ea typeface="Calibri"/>
              </a:rPr>
              <a:t>Nair</a:t>
            </a:r>
          </a:p>
        </p:txBody>
      </p:sp>
      <p:sp>
        <p:nvSpPr>
          <p:cNvPr id="18" name="Rectangle 17"/>
          <p:cNvSpPr/>
          <p:nvPr/>
        </p:nvSpPr>
        <p:spPr>
          <a:xfrm>
            <a:off x="502920" y="393192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059936"/>
            <a:ext cx="3291840" cy="320040"/>
          </a:xfrm>
          <a:prstGeom prst="rect">
            <a:avLst/>
          </a:prstGeom>
          <a:noFill/>
        </p:spPr>
        <p:txBody>
          <a:bodyPr wrap="none">
            <a:spAutoFit/>
          </a:bodyPr>
          <a:lstStyle/>
          <a:p>
            <a:r>
              <a:rPr sz="1500" b="0" i="0">
                <a:solidFill>
                  <a:srgbClr val="4A5568"/>
                </a:solidFill>
                <a:latin typeface="Calibri"/>
                <a:ea typeface="Calibri"/>
              </a:rPr>
              <a:t>Visit booked</a:t>
            </a:r>
          </a:p>
        </p:txBody>
      </p:sp>
      <p:sp>
        <p:nvSpPr>
          <p:cNvPr id="20" name="TextBox 19"/>
          <p:cNvSpPr txBox="1"/>
          <p:nvPr/>
        </p:nvSpPr>
        <p:spPr>
          <a:xfrm>
            <a:off x="3886200" y="4059936"/>
            <a:ext cx="1828800" cy="320040"/>
          </a:xfrm>
          <a:prstGeom prst="rect">
            <a:avLst/>
          </a:prstGeom>
          <a:noFill/>
        </p:spPr>
        <p:txBody>
          <a:bodyPr wrap="none">
            <a:spAutoFit/>
          </a:bodyPr>
          <a:lstStyle/>
          <a:p>
            <a:pPr algn="r"/>
            <a:r>
              <a:rPr sz="1600" b="1" i="0">
                <a:solidFill>
                  <a:srgbClr val="0B1F3A"/>
                </a:solidFill>
                <a:latin typeface="Calibri"/>
                <a:ea typeface="Calibri"/>
              </a:rPr>
              <a:t>Menon</a:t>
            </a:r>
          </a:p>
        </p:txBody>
      </p:sp>
      <p:sp>
        <p:nvSpPr>
          <p:cNvPr id="21" name="Rectangle 20"/>
          <p:cNvSpPr/>
          <p:nvPr/>
        </p:nvSpPr>
        <p:spPr>
          <a:xfrm>
            <a:off x="502920" y="4572000"/>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700016"/>
            <a:ext cx="3291840" cy="320040"/>
          </a:xfrm>
          <a:prstGeom prst="rect">
            <a:avLst/>
          </a:prstGeom>
          <a:noFill/>
        </p:spPr>
        <p:txBody>
          <a:bodyPr wrap="none">
            <a:spAutoFit/>
          </a:bodyPr>
          <a:lstStyle/>
          <a:p>
            <a:r>
              <a:rPr sz="1500" b="0" i="0">
                <a:solidFill>
                  <a:srgbClr val="4A5568"/>
                </a:solidFill>
                <a:latin typeface="Calibri"/>
                <a:ea typeface="Calibri"/>
              </a:rPr>
              <a:t>Visit missed</a:t>
            </a:r>
          </a:p>
        </p:txBody>
      </p:sp>
      <p:sp>
        <p:nvSpPr>
          <p:cNvPr id="23" name="TextBox 22"/>
          <p:cNvSpPr txBox="1"/>
          <p:nvPr/>
        </p:nvSpPr>
        <p:spPr>
          <a:xfrm>
            <a:off x="3886200" y="4700016"/>
            <a:ext cx="1828800" cy="320040"/>
          </a:xfrm>
          <a:prstGeom prst="rect">
            <a:avLst/>
          </a:prstGeom>
          <a:noFill/>
        </p:spPr>
        <p:txBody>
          <a:bodyPr wrap="none">
            <a:spAutoFit/>
          </a:bodyPr>
          <a:lstStyle/>
          <a:p>
            <a:pPr algn="r"/>
            <a:r>
              <a:rPr sz="1600" b="1" i="0">
                <a:solidFill>
                  <a:srgbClr val="0B1F3A"/>
                </a:solidFill>
                <a:latin typeface="Calibri"/>
                <a:ea typeface="Calibri"/>
              </a:rPr>
              <a:t>Das</a:t>
            </a:r>
          </a:p>
        </p:txBody>
      </p:sp>
      <p:sp>
        <p:nvSpPr>
          <p:cNvPr id="24" name="Rectangle 23"/>
          <p:cNvSpPr/>
          <p:nvPr/>
        </p:nvSpPr>
        <p:spPr>
          <a:xfrm>
            <a:off x="502920" y="5212079"/>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5340095"/>
            <a:ext cx="3291840" cy="320040"/>
          </a:xfrm>
          <a:prstGeom prst="rect">
            <a:avLst/>
          </a:prstGeom>
          <a:noFill/>
        </p:spPr>
        <p:txBody>
          <a:bodyPr wrap="none">
            <a:spAutoFit/>
          </a:bodyPr>
          <a:lstStyle/>
          <a:p>
            <a:r>
              <a:rPr sz="1500" b="0" i="0">
                <a:solidFill>
                  <a:srgbClr val="4A5568"/>
                </a:solidFill>
                <a:latin typeface="Calibri"/>
                <a:ea typeface="Calibri"/>
              </a:rPr>
              <a:t>App submitted</a:t>
            </a:r>
          </a:p>
        </p:txBody>
      </p:sp>
      <p:sp>
        <p:nvSpPr>
          <p:cNvPr id="26" name="TextBox 25"/>
          <p:cNvSpPr txBox="1"/>
          <p:nvPr/>
        </p:nvSpPr>
        <p:spPr>
          <a:xfrm>
            <a:off x="3886200" y="5340095"/>
            <a:ext cx="1828800" cy="320040"/>
          </a:xfrm>
          <a:prstGeom prst="rect">
            <a:avLst/>
          </a:prstGeom>
          <a:noFill/>
        </p:spPr>
        <p:txBody>
          <a:bodyPr wrap="none">
            <a:spAutoFit/>
          </a:bodyPr>
          <a:lstStyle/>
          <a:p>
            <a:pPr algn="r"/>
            <a:r>
              <a:rPr sz="1600" b="1" i="0">
                <a:solidFill>
                  <a:srgbClr val="0B1F3A"/>
                </a:solidFill>
                <a:latin typeface="Calibri"/>
                <a:ea typeface="Calibri"/>
              </a:rPr>
              <a:t>Khan</a:t>
            </a:r>
          </a:p>
        </p:txBody>
      </p:sp>
      <p:sp>
        <p:nvSpPr>
          <p:cNvPr id="27" name="Rectangle 26"/>
          <p:cNvSpPr/>
          <p:nvPr/>
        </p:nvSpPr>
        <p:spPr>
          <a:xfrm>
            <a:off x="6263640" y="137160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46520" y="1499616"/>
            <a:ext cx="3291840" cy="320040"/>
          </a:xfrm>
          <a:prstGeom prst="rect">
            <a:avLst/>
          </a:prstGeom>
          <a:noFill/>
        </p:spPr>
        <p:txBody>
          <a:bodyPr wrap="none">
            <a:spAutoFit/>
          </a:bodyPr>
          <a:lstStyle/>
          <a:p>
            <a:r>
              <a:rPr sz="1500" b="0" i="0">
                <a:solidFill>
                  <a:srgbClr val="4A5568"/>
                </a:solidFill>
                <a:latin typeface="Calibri"/>
                <a:ea typeface="Calibri"/>
              </a:rPr>
              <a:t>HOS → founder</a:t>
            </a:r>
          </a:p>
        </p:txBody>
      </p:sp>
      <p:sp>
        <p:nvSpPr>
          <p:cNvPr id="29" name="TextBox 28"/>
          <p:cNvSpPr txBox="1"/>
          <p:nvPr/>
        </p:nvSpPr>
        <p:spPr>
          <a:xfrm>
            <a:off x="9646920" y="1499616"/>
            <a:ext cx="1828800" cy="320040"/>
          </a:xfrm>
          <a:prstGeom prst="rect">
            <a:avLst/>
          </a:prstGeom>
          <a:noFill/>
        </p:spPr>
        <p:txBody>
          <a:bodyPr wrap="none">
            <a:spAutoFit/>
          </a:bodyPr>
          <a:lstStyle/>
          <a:p>
            <a:pPr algn="r"/>
            <a:r>
              <a:rPr sz="1600" b="1" i="0">
                <a:solidFill>
                  <a:srgbClr val="0B1F3A"/>
                </a:solidFill>
                <a:latin typeface="Calibri"/>
                <a:ea typeface="Calibri"/>
              </a:rPr>
              <a:t>Rao</a:t>
            </a:r>
          </a:p>
        </p:txBody>
      </p:sp>
      <p:sp>
        <p:nvSpPr>
          <p:cNvPr id="30" name="Rectangle 29"/>
          <p:cNvSpPr/>
          <p:nvPr/>
        </p:nvSpPr>
        <p:spPr>
          <a:xfrm>
            <a:off x="6263640" y="2011680"/>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2139696"/>
            <a:ext cx="3291840" cy="320040"/>
          </a:xfrm>
          <a:prstGeom prst="rect">
            <a:avLst/>
          </a:prstGeom>
          <a:noFill/>
        </p:spPr>
        <p:txBody>
          <a:bodyPr wrap="none">
            <a:spAutoFit/>
          </a:bodyPr>
          <a:lstStyle/>
          <a:p>
            <a:r>
              <a:rPr sz="1500" b="0" i="0">
                <a:solidFill>
                  <a:srgbClr val="4A5568"/>
                </a:solidFill>
                <a:latin typeface="Calibri"/>
                <a:ea typeface="Calibri"/>
              </a:rPr>
              <a:t>Waitlist</a:t>
            </a:r>
          </a:p>
        </p:txBody>
      </p:sp>
      <p:sp>
        <p:nvSpPr>
          <p:cNvPr id="32" name="TextBox 31"/>
          <p:cNvSpPr txBox="1"/>
          <p:nvPr/>
        </p:nvSpPr>
        <p:spPr>
          <a:xfrm>
            <a:off x="9646920" y="2139696"/>
            <a:ext cx="1828800" cy="320040"/>
          </a:xfrm>
          <a:prstGeom prst="rect">
            <a:avLst/>
          </a:prstGeom>
          <a:noFill/>
        </p:spPr>
        <p:txBody>
          <a:bodyPr wrap="none">
            <a:spAutoFit/>
          </a:bodyPr>
          <a:lstStyle/>
          <a:p>
            <a:pPr algn="r"/>
            <a:r>
              <a:rPr sz="1600" b="1" i="0">
                <a:solidFill>
                  <a:srgbClr val="0B1F3A"/>
                </a:solidFill>
                <a:latin typeface="Calibri"/>
                <a:ea typeface="Calibri"/>
              </a:rPr>
              <a:t>Patel</a:t>
            </a:r>
          </a:p>
        </p:txBody>
      </p:sp>
      <p:sp>
        <p:nvSpPr>
          <p:cNvPr id="33" name="Rectangle 32"/>
          <p:cNvSpPr/>
          <p:nvPr/>
        </p:nvSpPr>
        <p:spPr>
          <a:xfrm>
            <a:off x="6263640" y="265176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2779776"/>
            <a:ext cx="3291840" cy="320040"/>
          </a:xfrm>
          <a:prstGeom prst="rect">
            <a:avLst/>
          </a:prstGeom>
          <a:noFill/>
        </p:spPr>
        <p:txBody>
          <a:bodyPr wrap="none">
            <a:spAutoFit/>
          </a:bodyPr>
          <a:lstStyle/>
          <a:p>
            <a:r>
              <a:rPr sz="1500" b="0" i="0">
                <a:solidFill>
                  <a:srgbClr val="4A5568"/>
                </a:solidFill>
                <a:latin typeface="Calibri"/>
                <a:ea typeface="Calibri"/>
              </a:rPr>
              <a:t>Accepted</a:t>
            </a:r>
          </a:p>
        </p:txBody>
      </p:sp>
      <p:sp>
        <p:nvSpPr>
          <p:cNvPr id="35" name="TextBox 34"/>
          <p:cNvSpPr txBox="1"/>
          <p:nvPr/>
        </p:nvSpPr>
        <p:spPr>
          <a:xfrm>
            <a:off x="9646920" y="2779776"/>
            <a:ext cx="1828800" cy="320040"/>
          </a:xfrm>
          <a:prstGeom prst="rect">
            <a:avLst/>
          </a:prstGeom>
          <a:noFill/>
        </p:spPr>
        <p:txBody>
          <a:bodyPr wrap="none">
            <a:spAutoFit/>
          </a:bodyPr>
          <a:lstStyle/>
          <a:p>
            <a:pPr algn="r"/>
            <a:r>
              <a:rPr sz="1600" b="1" i="0">
                <a:solidFill>
                  <a:srgbClr val="0B1F3A"/>
                </a:solidFill>
                <a:latin typeface="Calibri"/>
                <a:ea typeface="Calibri"/>
              </a:rPr>
              <a:t>Mehta</a:t>
            </a:r>
          </a:p>
        </p:txBody>
      </p:sp>
      <p:sp>
        <p:nvSpPr>
          <p:cNvPr id="36" name="Rectangle 35"/>
          <p:cNvSpPr/>
          <p:nvPr/>
        </p:nvSpPr>
        <p:spPr>
          <a:xfrm>
            <a:off x="6263640" y="3291839"/>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46520" y="3419855"/>
            <a:ext cx="3291840" cy="320040"/>
          </a:xfrm>
          <a:prstGeom prst="rect">
            <a:avLst/>
          </a:prstGeom>
          <a:noFill/>
        </p:spPr>
        <p:txBody>
          <a:bodyPr wrap="none">
            <a:spAutoFit/>
          </a:bodyPr>
          <a:lstStyle/>
          <a:p>
            <a:r>
              <a:rPr sz="1500" b="0" i="0">
                <a:solidFill>
                  <a:srgbClr val="4A5568"/>
                </a:solidFill>
                <a:latin typeface="Calibri"/>
                <a:ea typeface="Calibri"/>
              </a:rPr>
              <a:t>PU vs K-12</a:t>
            </a:r>
          </a:p>
        </p:txBody>
      </p:sp>
      <p:sp>
        <p:nvSpPr>
          <p:cNvPr id="38" name="TextBox 37"/>
          <p:cNvSpPr txBox="1"/>
          <p:nvPr/>
        </p:nvSpPr>
        <p:spPr>
          <a:xfrm>
            <a:off x="9646920" y="3419855"/>
            <a:ext cx="1828800" cy="320040"/>
          </a:xfrm>
          <a:prstGeom prst="rect">
            <a:avLst/>
          </a:prstGeom>
          <a:noFill/>
        </p:spPr>
        <p:txBody>
          <a:bodyPr wrap="none">
            <a:spAutoFit/>
          </a:bodyPr>
          <a:lstStyle/>
          <a:p>
            <a:pPr algn="r"/>
            <a:r>
              <a:rPr sz="1600" b="1" i="0">
                <a:solidFill>
                  <a:srgbClr val="0B1F3A"/>
                </a:solidFill>
                <a:latin typeface="Calibri"/>
                <a:ea typeface="Calibri"/>
              </a:rPr>
              <a:t>Gowda</a:t>
            </a:r>
          </a:p>
        </p:txBody>
      </p:sp>
      <p:sp>
        <p:nvSpPr>
          <p:cNvPr id="39" name="Rectangle 38"/>
          <p:cNvSpPr/>
          <p:nvPr/>
        </p:nvSpPr>
        <p:spPr>
          <a:xfrm>
            <a:off x="6263640" y="3931920"/>
            <a:ext cx="5394960" cy="566928"/>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46520" y="4059936"/>
            <a:ext cx="3291840" cy="320040"/>
          </a:xfrm>
          <a:prstGeom prst="rect">
            <a:avLst/>
          </a:prstGeom>
          <a:noFill/>
        </p:spPr>
        <p:txBody>
          <a:bodyPr wrap="none">
            <a:spAutoFit/>
          </a:bodyPr>
          <a:lstStyle/>
          <a:p>
            <a:r>
              <a:rPr sz="1500" b="0" i="0">
                <a:solidFill>
                  <a:srgbClr val="4A5568"/>
                </a:solidFill>
                <a:latin typeface="Calibri"/>
                <a:ea typeface="Calibri"/>
              </a:rPr>
              <a:t>Database upload</a:t>
            </a:r>
          </a:p>
        </p:txBody>
      </p:sp>
      <p:sp>
        <p:nvSpPr>
          <p:cNvPr id="41" name="TextBox 40"/>
          <p:cNvSpPr txBox="1"/>
          <p:nvPr/>
        </p:nvSpPr>
        <p:spPr>
          <a:xfrm>
            <a:off x="9646920" y="4059936"/>
            <a:ext cx="1828800" cy="320040"/>
          </a:xfrm>
          <a:prstGeom prst="rect">
            <a:avLst/>
          </a:prstGeom>
          <a:noFill/>
        </p:spPr>
        <p:txBody>
          <a:bodyPr wrap="none">
            <a:spAutoFit/>
          </a:bodyPr>
          <a:lstStyle/>
          <a:p>
            <a:pPr algn="r"/>
            <a:r>
              <a:rPr sz="1600" b="1" i="0">
                <a:solidFill>
                  <a:srgbClr val="0B1F3A"/>
                </a:solidFill>
                <a:latin typeface="Calibri"/>
                <a:ea typeface="Calibri"/>
              </a:rPr>
              <a:t>Banerjee</a:t>
            </a:r>
          </a:p>
        </p:txBody>
      </p:sp>
      <p:sp>
        <p:nvSpPr>
          <p:cNvPr id="42" name="Rectangle 41"/>
          <p:cNvSpPr/>
          <p:nvPr/>
        </p:nvSpPr>
        <p:spPr>
          <a:xfrm>
            <a:off x="6263640" y="4572000"/>
            <a:ext cx="53949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4700016"/>
            <a:ext cx="3291840" cy="320040"/>
          </a:xfrm>
          <a:prstGeom prst="rect">
            <a:avLst/>
          </a:prstGeom>
          <a:noFill/>
        </p:spPr>
        <p:txBody>
          <a:bodyPr wrap="none">
            <a:spAutoFit/>
          </a:bodyPr>
          <a:lstStyle/>
          <a:p>
            <a:r>
              <a:rPr sz="1500" b="0" i="0">
                <a:solidFill>
                  <a:srgbClr val="4A5568"/>
                </a:solidFill>
                <a:latin typeface="Calibri"/>
                <a:ea typeface="Calibri"/>
              </a:rPr>
              <a:t>Inbound hotline</a:t>
            </a:r>
          </a:p>
        </p:txBody>
      </p:sp>
      <p:sp>
        <p:nvSpPr>
          <p:cNvPr id="44" name="TextBox 43"/>
          <p:cNvSpPr txBox="1"/>
          <p:nvPr/>
        </p:nvSpPr>
        <p:spPr>
          <a:xfrm>
            <a:off x="9646920" y="4700016"/>
            <a:ext cx="1828800" cy="320040"/>
          </a:xfrm>
          <a:prstGeom prst="rect">
            <a:avLst/>
          </a:prstGeom>
          <a:noFill/>
        </p:spPr>
        <p:txBody>
          <a:bodyPr wrap="none">
            <a:spAutoFit/>
          </a:bodyPr>
          <a:lstStyle/>
          <a:p>
            <a:pPr algn="r"/>
            <a:r>
              <a:rPr sz="1600" b="1" i="0">
                <a:solidFill>
                  <a:srgbClr val="0B1F3A"/>
                </a:solidFill>
                <a:latin typeface="Calibri"/>
                <a:ea typeface="Calibri"/>
              </a:rPr>
              <a:t>Joseph</a:t>
            </a:r>
          </a:p>
        </p:txBody>
      </p:sp>
      <p:sp>
        <p:nvSpPr>
          <p:cNvPr id="45" name="TextBox 44"/>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Appendix</a:t>
            </a:r>
          </a:p>
        </p:txBody>
      </p:sp>
      <p:sp>
        <p:nvSpPr>
          <p:cNvPr id="46" name="TextBox 45"/>
          <p:cNvSpPr txBox="1"/>
          <p:nvPr/>
        </p:nvSpPr>
        <p:spPr>
          <a:xfrm>
            <a:off x="6766560" y="6510528"/>
            <a:ext cx="4937760" cy="256032"/>
          </a:xfrm>
          <a:prstGeom prst="rect">
            <a:avLst/>
          </a:prstGeom>
          <a:noFill/>
        </p:spPr>
        <p:txBody>
          <a:bodyPr wrap="square">
            <a:spAutoFit/>
          </a:bodyPr>
          <a:lstStyle/>
          <a:p>
            <a:pPr algn="r"/>
            <a:r>
              <a:rPr sz="1100" b="1" i="0">
                <a:solidFill>
                  <a:srgbClr val="C4292E"/>
                </a:solidFill>
                <a:latin typeface="Calibri"/>
                <a:ea typeface="Calibri"/>
              </a:rPr>
              <a:t>Leads search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PRESENTER APPENDIX</a:t>
            </a:r>
          </a:p>
        </p:txBody>
      </p:sp>
      <p:sp>
        <p:nvSpPr>
          <p:cNvPr id="5" name="TextBox 4"/>
          <p:cNvSpPr txBox="1"/>
          <p:nvPr/>
        </p:nvSpPr>
        <p:spPr>
          <a:xfrm>
            <a:off x="502920" y="502920"/>
            <a:ext cx="11155680" cy="640080"/>
          </a:xfrm>
          <a:prstGeom prst="rect">
            <a:avLst/>
          </a:prstGeom>
          <a:noFill/>
        </p:spPr>
        <p:txBody>
          <a:bodyPr wrap="square">
            <a:spAutoFit/>
          </a:bodyPr>
          <a:lstStyle/>
          <a:p>
            <a:r>
              <a:rPr sz="2800" b="1" i="0">
                <a:solidFill>
                  <a:srgbClr val="0B1F3A"/>
                </a:solidFill>
                <a:latin typeface="Calibri"/>
                <a:ea typeface="Calibri"/>
              </a:rPr>
              <a:t>12-minute cut — skip Scene 2 and Scene 6</a:t>
            </a:r>
          </a:p>
        </p:txBody>
      </p:sp>
      <p:sp>
        <p:nvSpPr>
          <p:cNvPr id="6" name="Rectangle 5"/>
          <p:cNvSpPr/>
          <p:nvPr/>
        </p:nvSpPr>
        <p:spPr>
          <a:xfrm>
            <a:off x="502920" y="1371600"/>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1463040" cy="365760"/>
          </a:xfrm>
          <a:prstGeom prst="rect">
            <a:avLst/>
          </a:prstGeom>
          <a:noFill/>
        </p:spPr>
        <p:txBody>
          <a:bodyPr wrap="none">
            <a:spAutoFit/>
          </a:bodyPr>
          <a:lstStyle/>
          <a:p>
            <a:r>
              <a:rPr sz="1600" b="1" i="0">
                <a:solidFill>
                  <a:srgbClr val="C4292E"/>
                </a:solidFill>
                <a:latin typeface="Calibri"/>
                <a:ea typeface="Calibri"/>
              </a:rPr>
              <a:t>00:00</a:t>
            </a:r>
          </a:p>
        </p:txBody>
      </p:sp>
      <p:sp>
        <p:nvSpPr>
          <p:cNvPr id="8" name="TextBox 7"/>
          <p:cNvSpPr txBox="1"/>
          <p:nvPr/>
        </p:nvSpPr>
        <p:spPr>
          <a:xfrm>
            <a:off x="2377440" y="1554480"/>
            <a:ext cx="5943600" cy="365760"/>
          </a:xfrm>
          <a:prstGeom prst="rect">
            <a:avLst/>
          </a:prstGeom>
          <a:noFill/>
        </p:spPr>
        <p:txBody>
          <a:bodyPr wrap="none">
            <a:spAutoFit/>
          </a:bodyPr>
          <a:lstStyle/>
          <a:p>
            <a:r>
              <a:rPr sz="1800" b="1" i="0">
                <a:solidFill>
                  <a:srgbClr val="0B1F3A"/>
                </a:solidFill>
                <a:latin typeface="Calibri"/>
                <a:ea typeface="Calibri"/>
              </a:rPr>
              <a:t>Accounts tree</a:t>
            </a:r>
          </a:p>
        </p:txBody>
      </p:sp>
      <p:sp>
        <p:nvSpPr>
          <p:cNvPr id="9" name="TextBox 8"/>
          <p:cNvSpPr txBox="1"/>
          <p:nvPr/>
        </p:nvSpPr>
        <p:spPr>
          <a:xfrm>
            <a:off x="8595360" y="1554480"/>
            <a:ext cx="2743200" cy="365760"/>
          </a:xfrm>
          <a:prstGeom prst="rect">
            <a:avLst/>
          </a:prstGeom>
          <a:noFill/>
        </p:spPr>
        <p:txBody>
          <a:bodyPr wrap="none">
            <a:spAutoFit/>
          </a:bodyPr>
          <a:lstStyle/>
          <a:p>
            <a:r>
              <a:rPr sz="1500" b="0" i="0">
                <a:solidFill>
                  <a:srgbClr val="4A5568"/>
                </a:solidFill>
                <a:latin typeface="Calibri"/>
                <a:ea typeface="Calibri"/>
              </a:rPr>
              <a:t>Scene 0</a:t>
            </a:r>
          </a:p>
        </p:txBody>
      </p:sp>
      <p:sp>
        <p:nvSpPr>
          <p:cNvPr id="10" name="Rectangle 9"/>
          <p:cNvSpPr/>
          <p:nvPr/>
        </p:nvSpPr>
        <p:spPr>
          <a:xfrm>
            <a:off x="502920" y="2121408"/>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304288"/>
            <a:ext cx="1463040" cy="365760"/>
          </a:xfrm>
          <a:prstGeom prst="rect">
            <a:avLst/>
          </a:prstGeom>
          <a:noFill/>
        </p:spPr>
        <p:txBody>
          <a:bodyPr wrap="none">
            <a:spAutoFit/>
          </a:bodyPr>
          <a:lstStyle/>
          <a:p>
            <a:r>
              <a:rPr sz="1600" b="1" i="0">
                <a:solidFill>
                  <a:srgbClr val="C4292E"/>
                </a:solidFill>
                <a:latin typeface="Calibri"/>
                <a:ea typeface="Calibri"/>
              </a:rPr>
              <a:t>01:00</a:t>
            </a:r>
          </a:p>
        </p:txBody>
      </p:sp>
      <p:sp>
        <p:nvSpPr>
          <p:cNvPr id="12" name="TextBox 11"/>
          <p:cNvSpPr txBox="1"/>
          <p:nvPr/>
        </p:nvSpPr>
        <p:spPr>
          <a:xfrm>
            <a:off x="2377440" y="2304288"/>
            <a:ext cx="5943600" cy="365760"/>
          </a:xfrm>
          <a:prstGeom prst="rect">
            <a:avLst/>
          </a:prstGeom>
          <a:noFill/>
        </p:spPr>
        <p:txBody>
          <a:bodyPr wrap="none">
            <a:spAutoFit/>
          </a:bodyPr>
          <a:lstStyle/>
          <a:p>
            <a:r>
              <a:rPr sz="1800" b="1" i="0">
                <a:solidFill>
                  <a:srgbClr val="0B1F3A"/>
                </a:solidFill>
                <a:latin typeface="Calibri"/>
                <a:ea typeface="Calibri"/>
              </a:rPr>
              <a:t>9876543210 two campuses</a:t>
            </a:r>
          </a:p>
        </p:txBody>
      </p:sp>
      <p:sp>
        <p:nvSpPr>
          <p:cNvPr id="13" name="TextBox 12"/>
          <p:cNvSpPr txBox="1"/>
          <p:nvPr/>
        </p:nvSpPr>
        <p:spPr>
          <a:xfrm>
            <a:off x="8595360" y="2304288"/>
            <a:ext cx="2743200" cy="365760"/>
          </a:xfrm>
          <a:prstGeom prst="rect">
            <a:avLst/>
          </a:prstGeom>
          <a:noFill/>
        </p:spPr>
        <p:txBody>
          <a:bodyPr wrap="none">
            <a:spAutoFit/>
          </a:bodyPr>
          <a:lstStyle/>
          <a:p>
            <a:r>
              <a:rPr sz="1500" b="0" i="0">
                <a:solidFill>
                  <a:srgbClr val="4A5568"/>
                </a:solidFill>
                <a:latin typeface="Calibri"/>
                <a:ea typeface="Calibri"/>
              </a:rPr>
              <a:t>Scene 1</a:t>
            </a:r>
          </a:p>
        </p:txBody>
      </p:sp>
      <p:sp>
        <p:nvSpPr>
          <p:cNvPr id="14" name="Rectangle 13"/>
          <p:cNvSpPr/>
          <p:nvPr/>
        </p:nvSpPr>
        <p:spPr>
          <a:xfrm>
            <a:off x="502920" y="2871216"/>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054096"/>
            <a:ext cx="1463040" cy="365760"/>
          </a:xfrm>
          <a:prstGeom prst="rect">
            <a:avLst/>
          </a:prstGeom>
          <a:noFill/>
        </p:spPr>
        <p:txBody>
          <a:bodyPr wrap="none">
            <a:spAutoFit/>
          </a:bodyPr>
          <a:lstStyle/>
          <a:p>
            <a:r>
              <a:rPr sz="1600" b="1" i="0">
                <a:solidFill>
                  <a:srgbClr val="C4292E"/>
                </a:solidFill>
                <a:latin typeface="Calibri"/>
                <a:ea typeface="Calibri"/>
              </a:rPr>
              <a:t>03:00</a:t>
            </a:r>
          </a:p>
        </p:txBody>
      </p:sp>
      <p:sp>
        <p:nvSpPr>
          <p:cNvPr id="16" name="TextBox 15"/>
          <p:cNvSpPr txBox="1"/>
          <p:nvPr/>
        </p:nvSpPr>
        <p:spPr>
          <a:xfrm>
            <a:off x="2377440" y="3054096"/>
            <a:ext cx="5943600" cy="365760"/>
          </a:xfrm>
          <a:prstGeom prst="rect">
            <a:avLst/>
          </a:prstGeom>
          <a:noFill/>
        </p:spPr>
        <p:txBody>
          <a:bodyPr wrap="none">
            <a:spAutoFit/>
          </a:bodyPr>
          <a:lstStyle/>
          <a:p>
            <a:r>
              <a:rPr sz="1800" b="1" i="0">
                <a:solidFill>
                  <a:srgbClr val="0B1F3A"/>
                </a:solidFill>
                <a:latin typeface="Calibri"/>
                <a:ea typeface="Calibri"/>
              </a:rPr>
              <a:t>Nair abandoned form + 24h task</a:t>
            </a:r>
          </a:p>
        </p:txBody>
      </p:sp>
      <p:sp>
        <p:nvSpPr>
          <p:cNvPr id="17" name="TextBox 16"/>
          <p:cNvSpPr txBox="1"/>
          <p:nvPr/>
        </p:nvSpPr>
        <p:spPr>
          <a:xfrm>
            <a:off x="8595360" y="3054096"/>
            <a:ext cx="2743200" cy="365760"/>
          </a:xfrm>
          <a:prstGeom prst="rect">
            <a:avLst/>
          </a:prstGeom>
          <a:noFill/>
        </p:spPr>
        <p:txBody>
          <a:bodyPr wrap="none">
            <a:spAutoFit/>
          </a:bodyPr>
          <a:lstStyle/>
          <a:p>
            <a:r>
              <a:rPr sz="1500" b="0" i="0">
                <a:solidFill>
                  <a:srgbClr val="4A5568"/>
                </a:solidFill>
                <a:latin typeface="Calibri"/>
                <a:ea typeface="Calibri"/>
              </a:rPr>
              <a:t>Scene 3c only</a:t>
            </a:r>
          </a:p>
        </p:txBody>
      </p:sp>
      <p:sp>
        <p:nvSpPr>
          <p:cNvPr id="18" name="Rectangle 17"/>
          <p:cNvSpPr/>
          <p:nvPr/>
        </p:nvSpPr>
        <p:spPr>
          <a:xfrm>
            <a:off x="502920" y="3621024"/>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803904"/>
            <a:ext cx="1463040" cy="365760"/>
          </a:xfrm>
          <a:prstGeom prst="rect">
            <a:avLst/>
          </a:prstGeom>
          <a:noFill/>
        </p:spPr>
        <p:txBody>
          <a:bodyPr wrap="none">
            <a:spAutoFit/>
          </a:bodyPr>
          <a:lstStyle/>
          <a:p>
            <a:r>
              <a:rPr sz="1600" b="1" i="0">
                <a:solidFill>
                  <a:srgbClr val="C4292E"/>
                </a:solidFill>
                <a:latin typeface="Calibri"/>
                <a:ea typeface="Calibri"/>
              </a:rPr>
              <a:t>05:00</a:t>
            </a:r>
          </a:p>
        </p:txBody>
      </p:sp>
      <p:sp>
        <p:nvSpPr>
          <p:cNvPr id="20" name="TextBox 19"/>
          <p:cNvSpPr txBox="1"/>
          <p:nvPr/>
        </p:nvSpPr>
        <p:spPr>
          <a:xfrm>
            <a:off x="2377440" y="3803904"/>
            <a:ext cx="5943600" cy="365760"/>
          </a:xfrm>
          <a:prstGeom prst="rect">
            <a:avLst/>
          </a:prstGeom>
          <a:noFill/>
        </p:spPr>
        <p:txBody>
          <a:bodyPr wrap="none">
            <a:spAutoFit/>
          </a:bodyPr>
          <a:lstStyle/>
          <a:p>
            <a:r>
              <a:rPr sz="1800" b="1" i="0">
                <a:solidFill>
                  <a:srgbClr val="0B1F3A"/>
                </a:solidFill>
                <a:latin typeface="Calibri"/>
                <a:ea typeface="Calibri"/>
              </a:rPr>
              <a:t>Menon booked, Das missed</a:t>
            </a:r>
          </a:p>
        </p:txBody>
      </p:sp>
      <p:sp>
        <p:nvSpPr>
          <p:cNvPr id="21" name="TextBox 20"/>
          <p:cNvSpPr txBox="1"/>
          <p:nvPr/>
        </p:nvSpPr>
        <p:spPr>
          <a:xfrm>
            <a:off x="8595360" y="3803904"/>
            <a:ext cx="2743200" cy="365760"/>
          </a:xfrm>
          <a:prstGeom prst="rect">
            <a:avLst/>
          </a:prstGeom>
          <a:noFill/>
        </p:spPr>
        <p:txBody>
          <a:bodyPr wrap="none">
            <a:spAutoFit/>
          </a:bodyPr>
          <a:lstStyle/>
          <a:p>
            <a:r>
              <a:rPr sz="1500" b="0" i="0">
                <a:solidFill>
                  <a:srgbClr val="4A5568"/>
                </a:solidFill>
                <a:latin typeface="Calibri"/>
                <a:ea typeface="Calibri"/>
              </a:rPr>
              <a:t>Scene 4</a:t>
            </a:r>
          </a:p>
        </p:txBody>
      </p:sp>
      <p:sp>
        <p:nvSpPr>
          <p:cNvPr id="22" name="Rectangle 21"/>
          <p:cNvSpPr/>
          <p:nvPr/>
        </p:nvSpPr>
        <p:spPr>
          <a:xfrm>
            <a:off x="502920" y="4370832"/>
            <a:ext cx="11155680" cy="713232"/>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553712"/>
            <a:ext cx="1463040" cy="365760"/>
          </a:xfrm>
          <a:prstGeom prst="rect">
            <a:avLst/>
          </a:prstGeom>
          <a:noFill/>
        </p:spPr>
        <p:txBody>
          <a:bodyPr wrap="none">
            <a:spAutoFit/>
          </a:bodyPr>
          <a:lstStyle/>
          <a:p>
            <a:r>
              <a:rPr sz="1600" b="1" i="0">
                <a:solidFill>
                  <a:srgbClr val="C4292E"/>
                </a:solidFill>
                <a:latin typeface="Calibri"/>
                <a:ea typeface="Calibri"/>
              </a:rPr>
              <a:t>08:00</a:t>
            </a:r>
          </a:p>
        </p:txBody>
      </p:sp>
      <p:sp>
        <p:nvSpPr>
          <p:cNvPr id="24" name="TextBox 23"/>
          <p:cNvSpPr txBox="1"/>
          <p:nvPr/>
        </p:nvSpPr>
        <p:spPr>
          <a:xfrm>
            <a:off x="2377440" y="4553712"/>
            <a:ext cx="5943600" cy="365760"/>
          </a:xfrm>
          <a:prstGeom prst="rect">
            <a:avLst/>
          </a:prstGeom>
          <a:noFill/>
        </p:spPr>
        <p:txBody>
          <a:bodyPr wrap="none">
            <a:spAutoFit/>
          </a:bodyPr>
          <a:lstStyle/>
          <a:p>
            <a:r>
              <a:rPr sz="1800" b="1" i="0">
                <a:solidFill>
                  <a:srgbClr val="0B1F3A"/>
                </a:solidFill>
                <a:latin typeface="Calibri"/>
                <a:ea typeface="Calibri"/>
              </a:rPr>
              <a:t>Khan → Rao → Patel → Mehta</a:t>
            </a:r>
          </a:p>
        </p:txBody>
      </p:sp>
      <p:sp>
        <p:nvSpPr>
          <p:cNvPr id="25" name="TextBox 24"/>
          <p:cNvSpPr txBox="1"/>
          <p:nvPr/>
        </p:nvSpPr>
        <p:spPr>
          <a:xfrm>
            <a:off x="8595360" y="4553712"/>
            <a:ext cx="2743200" cy="365760"/>
          </a:xfrm>
          <a:prstGeom prst="rect">
            <a:avLst/>
          </a:prstGeom>
          <a:noFill/>
        </p:spPr>
        <p:txBody>
          <a:bodyPr wrap="none">
            <a:spAutoFit/>
          </a:bodyPr>
          <a:lstStyle/>
          <a:p>
            <a:r>
              <a:rPr sz="1500" b="0" i="0">
                <a:solidFill>
                  <a:srgbClr val="4A5568"/>
                </a:solidFill>
                <a:latin typeface="Calibri"/>
                <a:ea typeface="Calibri"/>
              </a:rPr>
              <a:t>Scene 5</a:t>
            </a:r>
          </a:p>
        </p:txBody>
      </p:sp>
      <p:sp>
        <p:nvSpPr>
          <p:cNvPr id="26" name="Rectangle 25"/>
          <p:cNvSpPr/>
          <p:nvPr/>
        </p:nvSpPr>
        <p:spPr>
          <a:xfrm>
            <a:off x="502920" y="5120640"/>
            <a:ext cx="1115568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303520"/>
            <a:ext cx="1463040" cy="365760"/>
          </a:xfrm>
          <a:prstGeom prst="rect">
            <a:avLst/>
          </a:prstGeom>
          <a:noFill/>
        </p:spPr>
        <p:txBody>
          <a:bodyPr wrap="none">
            <a:spAutoFit/>
          </a:bodyPr>
          <a:lstStyle/>
          <a:p>
            <a:r>
              <a:rPr sz="1600" b="1" i="0">
                <a:solidFill>
                  <a:srgbClr val="C4292E"/>
                </a:solidFill>
                <a:latin typeface="Calibri"/>
                <a:ea typeface="Calibri"/>
              </a:rPr>
              <a:t>11:00</a:t>
            </a:r>
          </a:p>
        </p:txBody>
      </p:sp>
      <p:sp>
        <p:nvSpPr>
          <p:cNvPr id="28" name="TextBox 27"/>
          <p:cNvSpPr txBox="1"/>
          <p:nvPr/>
        </p:nvSpPr>
        <p:spPr>
          <a:xfrm>
            <a:off x="2377440" y="5303520"/>
            <a:ext cx="5943600" cy="365760"/>
          </a:xfrm>
          <a:prstGeom prst="rect">
            <a:avLst/>
          </a:prstGeom>
          <a:noFill/>
        </p:spPr>
        <p:txBody>
          <a:bodyPr wrap="none">
            <a:spAutoFit/>
          </a:bodyPr>
          <a:lstStyle/>
          <a:p>
            <a:r>
              <a:rPr sz="1800" b="1" i="0">
                <a:solidFill>
                  <a:srgbClr val="0B1F3A"/>
                </a:solidFill>
                <a:latin typeface="Calibri"/>
                <a:ea typeface="Calibri"/>
              </a:rPr>
              <a:t>Workflow list + close</a:t>
            </a:r>
          </a:p>
        </p:txBody>
      </p:sp>
      <p:sp>
        <p:nvSpPr>
          <p:cNvPr id="29" name="TextBox 28"/>
          <p:cNvSpPr txBox="1"/>
          <p:nvPr/>
        </p:nvSpPr>
        <p:spPr>
          <a:xfrm>
            <a:off x="8595360" y="5303520"/>
            <a:ext cx="2743200" cy="365760"/>
          </a:xfrm>
          <a:prstGeom prst="rect">
            <a:avLst/>
          </a:prstGeom>
          <a:noFill/>
        </p:spPr>
        <p:txBody>
          <a:bodyPr wrap="none">
            <a:spAutoFit/>
          </a:bodyPr>
          <a:lstStyle/>
          <a:p>
            <a:r>
              <a:rPr sz="1500" b="0" i="0">
                <a:solidFill>
                  <a:srgbClr val="4A5568"/>
                </a:solidFill>
                <a:latin typeface="Calibri"/>
                <a:ea typeface="Calibri"/>
              </a:rPr>
              <a:t>Scenes 7–8</a:t>
            </a:r>
          </a:p>
        </p:txBody>
      </p:sp>
      <p:sp>
        <p:nvSpPr>
          <p:cNvPr id="30" name="TextBox 29"/>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Appendix</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8016"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8016" y="0"/>
            <a:ext cx="12063679" cy="73152"/>
          </a:xfrm>
          <a:prstGeom prst="rect">
            <a:avLst/>
          </a:prstGeom>
          <a:solidFill>
            <a:srgbClr val="C429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none">
            <a:spAutoFit/>
          </a:bodyPr>
          <a:lstStyle/>
          <a:p>
            <a:r>
              <a:rPr sz="1200" b="1" i="0">
                <a:solidFill>
                  <a:srgbClr val="C4292E"/>
                </a:solidFill>
                <a:latin typeface="Calibri"/>
                <a:ea typeface="Calibri"/>
              </a:rPr>
              <a:t>APPENDIX  ·  SOP</a:t>
            </a:r>
          </a:p>
        </p:txBody>
      </p:sp>
      <p:sp>
        <p:nvSpPr>
          <p:cNvPr id="5" name="TextBox 4"/>
          <p:cNvSpPr txBox="1"/>
          <p:nvPr/>
        </p:nvSpPr>
        <p:spPr>
          <a:xfrm>
            <a:off x="502920" y="438912"/>
            <a:ext cx="11155680" cy="640080"/>
          </a:xfrm>
          <a:prstGeom prst="rect">
            <a:avLst/>
          </a:prstGeom>
          <a:noFill/>
        </p:spPr>
        <p:txBody>
          <a:bodyPr wrap="square">
            <a:spAutoFit/>
          </a:bodyPr>
          <a:lstStyle/>
          <a:p>
            <a:r>
              <a:rPr sz="2800" b="1" i="0">
                <a:solidFill>
                  <a:srgbClr val="0B1F3A"/>
                </a:solidFill>
                <a:latin typeface="Calibri"/>
                <a:ea typeface="Calibri"/>
              </a:rPr>
              <a:t>Reports they asked for</a:t>
            </a:r>
          </a:p>
        </p:txBody>
      </p:sp>
      <p:sp>
        <p:nvSpPr>
          <p:cNvPr id="6" name="Rectangle 5"/>
          <p:cNvSpPr/>
          <p:nvPr/>
        </p:nvSpPr>
        <p:spPr>
          <a:xfrm>
            <a:off x="457200" y="1207008"/>
            <a:ext cx="11247120" cy="5120640"/>
          </a:xfrm>
          <a:prstGeom prst="rect">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1-sop-reports.jpg"/>
          <p:cNvPicPr>
            <a:picLocks noChangeAspect="1"/>
          </p:cNvPicPr>
          <p:nvPr/>
        </p:nvPicPr>
        <p:blipFill>
          <a:blip r:embed="rId2"/>
          <a:stretch>
            <a:fillRect/>
          </a:stretch>
        </p:blipFill>
        <p:spPr>
          <a:xfrm>
            <a:off x="3297803" y="1298448"/>
            <a:ext cx="5565913" cy="4937760"/>
          </a:xfrm>
          <a:prstGeom prst="rect">
            <a:avLst/>
          </a:prstGeom>
        </p:spPr>
      </p:pic>
      <p:sp>
        <p:nvSpPr>
          <p:cNvPr id="8" name="TextBox 7"/>
          <p:cNvSpPr txBox="1"/>
          <p:nvPr/>
        </p:nvSpPr>
        <p:spPr>
          <a:xfrm>
            <a:off x="502920" y="6510528"/>
            <a:ext cx="8412480" cy="256032"/>
          </a:xfrm>
          <a:prstGeom prst="rect">
            <a:avLst/>
          </a:prstGeom>
          <a:noFill/>
        </p:spPr>
        <p:txBody>
          <a:bodyPr wrap="square">
            <a:spAutoFit/>
          </a:bodyPr>
          <a:lstStyle/>
          <a:p>
            <a:r>
              <a:rPr sz="1100" b="0" i="0">
                <a:solidFill>
                  <a:srgbClr val="6B7688"/>
                </a:solidFill>
                <a:latin typeface="Calibri"/>
                <a:ea typeface="Calibri"/>
              </a:rPr>
              <a:t>Ekya / CMR admissions  ·  SOP screenshot · presenter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